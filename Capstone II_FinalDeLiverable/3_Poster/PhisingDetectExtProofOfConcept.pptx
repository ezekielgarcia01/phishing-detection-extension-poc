
<file path=[Content_Types].xml><?xml version="1.0" encoding="utf-8"?>
<Types xmlns="http://schemas.openxmlformats.org/package/2006/content-types">
  <Default Extension="jpeg" ContentType="image/jpe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
  </p:notesMasterIdLst>
  <p:sldIdLst>
    <p:sldId id="260" r:id="rId2"/>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3EFF9"/>
    <a:srgbClr val="FFF8E1"/>
    <a:srgbClr val="FFEF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81" autoAdjust="0"/>
    <p:restoredTop sz="92768" autoAdjust="0"/>
  </p:normalViewPr>
  <p:slideViewPr>
    <p:cSldViewPr snapToGrid="0" showGuides="1">
      <p:cViewPr>
        <p:scale>
          <a:sx n="32" d="100"/>
          <a:sy n="32" d="100"/>
        </p:scale>
        <p:origin x="614" y="-13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1B744-98DD-435D-8A24-DF13B94F05DD}" type="datetimeFigureOut">
              <a:rPr lang="es-ES" smtClean="0"/>
              <a:t>11/04/2025</a:t>
            </a:fld>
            <a:endParaRPr lang="es-E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0587FC-E9F8-4A9B-9CC3-526D7AA8C320}" type="slidenum">
              <a:rPr lang="es-ES" smtClean="0"/>
              <a:t>‹#›</a:t>
            </a:fld>
            <a:endParaRPr lang="es-ES"/>
          </a:p>
        </p:txBody>
      </p:sp>
    </p:spTree>
    <p:extLst>
      <p:ext uri="{BB962C8B-B14F-4D97-AF65-F5344CB8AC3E}">
        <p14:creationId xmlns:p14="http://schemas.microsoft.com/office/powerpoint/2010/main" val="194323474"/>
      </p:ext>
    </p:extLst>
  </p:cSld>
  <p:clrMap bg1="lt1" tx1="dk1" bg2="lt2" tx2="dk2" accent1="accent1" accent2="accent2" accent3="accent3" accent4="accent4" accent5="accent5" accent6="accent6" hlink="hlink" folHlink="folHlink"/>
  <p:notesStyle>
    <a:lvl1pPr marL="0" algn="l" defTabSz="3686627" rtl="0" eaLnBrk="1" latinLnBrk="0" hangingPunct="1">
      <a:defRPr sz="4838" kern="1200">
        <a:solidFill>
          <a:schemeClr val="tx1"/>
        </a:solidFill>
        <a:latin typeface="+mn-lt"/>
        <a:ea typeface="+mn-ea"/>
        <a:cs typeface="+mn-cs"/>
      </a:defRPr>
    </a:lvl1pPr>
    <a:lvl2pPr marL="1843313" algn="l" defTabSz="3686627" rtl="0" eaLnBrk="1" latinLnBrk="0" hangingPunct="1">
      <a:defRPr sz="4838" kern="1200">
        <a:solidFill>
          <a:schemeClr val="tx1"/>
        </a:solidFill>
        <a:latin typeface="+mn-lt"/>
        <a:ea typeface="+mn-ea"/>
        <a:cs typeface="+mn-cs"/>
      </a:defRPr>
    </a:lvl2pPr>
    <a:lvl3pPr marL="3686627" algn="l" defTabSz="3686627" rtl="0" eaLnBrk="1" latinLnBrk="0" hangingPunct="1">
      <a:defRPr sz="4838" kern="1200">
        <a:solidFill>
          <a:schemeClr val="tx1"/>
        </a:solidFill>
        <a:latin typeface="+mn-lt"/>
        <a:ea typeface="+mn-ea"/>
        <a:cs typeface="+mn-cs"/>
      </a:defRPr>
    </a:lvl3pPr>
    <a:lvl4pPr marL="5529936" algn="l" defTabSz="3686627" rtl="0" eaLnBrk="1" latinLnBrk="0" hangingPunct="1">
      <a:defRPr sz="4838" kern="1200">
        <a:solidFill>
          <a:schemeClr val="tx1"/>
        </a:solidFill>
        <a:latin typeface="+mn-lt"/>
        <a:ea typeface="+mn-ea"/>
        <a:cs typeface="+mn-cs"/>
      </a:defRPr>
    </a:lvl4pPr>
    <a:lvl5pPr marL="7373250" algn="l" defTabSz="3686627" rtl="0" eaLnBrk="1" latinLnBrk="0" hangingPunct="1">
      <a:defRPr sz="4838" kern="1200">
        <a:solidFill>
          <a:schemeClr val="tx1"/>
        </a:solidFill>
        <a:latin typeface="+mn-lt"/>
        <a:ea typeface="+mn-ea"/>
        <a:cs typeface="+mn-cs"/>
      </a:defRPr>
    </a:lvl5pPr>
    <a:lvl6pPr marL="9216563" algn="l" defTabSz="3686627" rtl="0" eaLnBrk="1" latinLnBrk="0" hangingPunct="1">
      <a:defRPr sz="4838" kern="1200">
        <a:solidFill>
          <a:schemeClr val="tx1"/>
        </a:solidFill>
        <a:latin typeface="+mn-lt"/>
        <a:ea typeface="+mn-ea"/>
        <a:cs typeface="+mn-cs"/>
      </a:defRPr>
    </a:lvl6pPr>
    <a:lvl7pPr marL="11059873" algn="l" defTabSz="3686627" rtl="0" eaLnBrk="1" latinLnBrk="0" hangingPunct="1">
      <a:defRPr sz="4838" kern="1200">
        <a:solidFill>
          <a:schemeClr val="tx1"/>
        </a:solidFill>
        <a:latin typeface="+mn-lt"/>
        <a:ea typeface="+mn-ea"/>
        <a:cs typeface="+mn-cs"/>
      </a:defRPr>
    </a:lvl7pPr>
    <a:lvl8pPr marL="12903186" algn="l" defTabSz="3686627" rtl="0" eaLnBrk="1" latinLnBrk="0" hangingPunct="1">
      <a:defRPr sz="4838" kern="1200">
        <a:solidFill>
          <a:schemeClr val="tx1"/>
        </a:solidFill>
        <a:latin typeface="+mn-lt"/>
        <a:ea typeface="+mn-ea"/>
        <a:cs typeface="+mn-cs"/>
      </a:defRPr>
    </a:lvl8pPr>
    <a:lvl9pPr marL="14746500" algn="l" defTabSz="3686627" rtl="0" eaLnBrk="1" latinLnBrk="0" hangingPunct="1">
      <a:defRPr sz="4838"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F5341-AFBD-12FE-1BC0-679DA840E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69081-D1DE-EC9D-8C2D-3629102AC41A}"/>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9660CD17-E3B0-48EB-7B72-33D6A3E11F81}"/>
              </a:ext>
            </a:extLst>
          </p:cNvPr>
          <p:cNvSpPr>
            <a:spLocks noGrp="1"/>
          </p:cNvSpPr>
          <p:nvPr>
            <p:ph type="body" idx="1"/>
          </p:nvPr>
        </p:nvSpPr>
        <p:spPr/>
        <p:txBody>
          <a:bodyPr/>
          <a:lstStyle/>
          <a:p>
            <a:endParaRPr lang="es-ES" dirty="0"/>
          </a:p>
        </p:txBody>
      </p:sp>
      <p:sp>
        <p:nvSpPr>
          <p:cNvPr id="4" name="Slide Number Placeholder 3">
            <a:extLst>
              <a:ext uri="{FF2B5EF4-FFF2-40B4-BE49-F238E27FC236}">
                <a16:creationId xmlns:a16="http://schemas.microsoft.com/office/drawing/2014/main" id="{06264241-5E70-2CF6-DC37-7E55EDF639CB}"/>
              </a:ext>
            </a:extLst>
          </p:cNvPr>
          <p:cNvSpPr>
            <a:spLocks noGrp="1"/>
          </p:cNvSpPr>
          <p:nvPr>
            <p:ph type="sldNum" sz="quarter" idx="5"/>
          </p:nvPr>
        </p:nvSpPr>
        <p:spPr/>
        <p:txBody>
          <a:bodyPr/>
          <a:lstStyle/>
          <a:p>
            <a:fld id="{530587FC-E9F8-4A9B-9CC3-526D7AA8C320}" type="slidenum">
              <a:rPr lang="es-ES" smtClean="0"/>
              <a:t>1</a:t>
            </a:fld>
            <a:endParaRPr lang="es-ES"/>
          </a:p>
        </p:txBody>
      </p:sp>
    </p:spTree>
    <p:extLst>
      <p:ext uri="{BB962C8B-B14F-4D97-AF65-F5344CB8AC3E}">
        <p14:creationId xmlns:p14="http://schemas.microsoft.com/office/powerpoint/2010/main" val="1190352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5387342"/>
            <a:ext cx="37307520" cy="11460480"/>
          </a:xfrm>
        </p:spPr>
        <p:txBody>
          <a:bodyPr anchor="b"/>
          <a:lstStyle>
            <a:lvl1pPr algn="ctr">
              <a:defRPr sz="28800"/>
            </a:lvl1pPr>
          </a:lstStyle>
          <a:p>
            <a:r>
              <a:rPr lang="en-US"/>
              <a:t>Click to edit Master title style</a:t>
            </a:r>
            <a:endParaRPr lang="en-US" dirty="0"/>
          </a:p>
        </p:txBody>
      </p:sp>
      <p:sp>
        <p:nvSpPr>
          <p:cNvPr id="3" name="Subtitle 2"/>
          <p:cNvSpPr>
            <a:spLocks noGrp="1"/>
          </p:cNvSpPr>
          <p:nvPr>
            <p:ph type="subTitle" idx="1"/>
          </p:nvPr>
        </p:nvSpPr>
        <p:spPr>
          <a:xfrm>
            <a:off x="5486400" y="17289782"/>
            <a:ext cx="32918400" cy="7947658"/>
          </a:xfrm>
        </p:spPr>
        <p:txBody>
          <a:bodyPr/>
          <a:lstStyle>
            <a:lvl1pPr marL="0" indent="0" algn="ctr">
              <a:buNone/>
              <a:defRPr sz="11520"/>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AEBE7B2-13AD-456D-A521-CC6CFFE253E2}" type="datetimeFigureOut">
              <a:rPr lang="es-ES" smtClean="0"/>
              <a:t>11/04/2025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18706457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BE7B2-13AD-456D-A521-CC6CFFE253E2}" type="datetimeFigureOut">
              <a:rPr lang="es-ES" smtClean="0"/>
              <a:t>11/04/2025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356931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994662" y="8206749"/>
            <a:ext cx="37856160" cy="13693138"/>
          </a:xfrm>
        </p:spPr>
        <p:txBody>
          <a:bodyPr anchor="b"/>
          <a:lstStyle>
            <a:lvl1pPr>
              <a:defRPr sz="28800"/>
            </a:lvl1pPr>
          </a:lstStyle>
          <a:p>
            <a:r>
              <a:rPr lang="en-US"/>
              <a:t>Click to edit Master title style</a:t>
            </a:r>
            <a:endParaRPr lang="en-US" dirty="0"/>
          </a:p>
        </p:txBody>
      </p:sp>
      <p:sp>
        <p:nvSpPr>
          <p:cNvPr id="3" name="Text Placeholder 2"/>
          <p:cNvSpPr>
            <a:spLocks noGrp="1"/>
          </p:cNvSpPr>
          <p:nvPr>
            <p:ph type="body" idx="1"/>
          </p:nvPr>
        </p:nvSpPr>
        <p:spPr>
          <a:xfrm>
            <a:off x="2994662" y="22029429"/>
            <a:ext cx="37856160" cy="7200898"/>
          </a:xfrm>
        </p:spPr>
        <p:txBody>
          <a:bodyPr/>
          <a:lstStyle>
            <a:lvl1pPr marL="0" indent="0">
              <a:buNone/>
              <a:defRPr sz="11520">
                <a:solidFill>
                  <a:schemeClr val="tx1">
                    <a:tint val="82000"/>
                  </a:schemeClr>
                </a:solidFill>
              </a:defRPr>
            </a:lvl1pPr>
            <a:lvl2pPr marL="2194560" indent="0">
              <a:buNone/>
              <a:defRPr sz="9600">
                <a:solidFill>
                  <a:schemeClr val="tx1">
                    <a:tint val="82000"/>
                  </a:schemeClr>
                </a:solidFill>
              </a:defRPr>
            </a:lvl2pPr>
            <a:lvl3pPr marL="4389120" indent="0">
              <a:buNone/>
              <a:defRPr sz="8640">
                <a:solidFill>
                  <a:schemeClr val="tx1">
                    <a:tint val="82000"/>
                  </a:schemeClr>
                </a:solidFill>
              </a:defRPr>
            </a:lvl3pPr>
            <a:lvl4pPr marL="6583680" indent="0">
              <a:buNone/>
              <a:defRPr sz="7680">
                <a:solidFill>
                  <a:schemeClr val="tx1">
                    <a:tint val="82000"/>
                  </a:schemeClr>
                </a:solidFill>
              </a:defRPr>
            </a:lvl4pPr>
            <a:lvl5pPr marL="8778240" indent="0">
              <a:buNone/>
              <a:defRPr sz="7680">
                <a:solidFill>
                  <a:schemeClr val="tx1">
                    <a:tint val="82000"/>
                  </a:schemeClr>
                </a:solidFill>
              </a:defRPr>
            </a:lvl5pPr>
            <a:lvl6pPr marL="10972800" indent="0">
              <a:buNone/>
              <a:defRPr sz="7680">
                <a:solidFill>
                  <a:schemeClr val="tx1">
                    <a:tint val="82000"/>
                  </a:schemeClr>
                </a:solidFill>
              </a:defRPr>
            </a:lvl6pPr>
            <a:lvl7pPr marL="13167360" indent="0">
              <a:buNone/>
              <a:defRPr sz="7680">
                <a:solidFill>
                  <a:schemeClr val="tx1">
                    <a:tint val="82000"/>
                  </a:schemeClr>
                </a:solidFill>
              </a:defRPr>
            </a:lvl7pPr>
            <a:lvl8pPr marL="15361920" indent="0">
              <a:buNone/>
              <a:defRPr sz="7680">
                <a:solidFill>
                  <a:schemeClr val="tx1">
                    <a:tint val="82000"/>
                  </a:schemeClr>
                </a:solidFill>
              </a:defRPr>
            </a:lvl8pPr>
            <a:lvl9pPr marL="17556480" indent="0">
              <a:buNone/>
              <a:defRPr sz="768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EBE7B2-13AD-456D-A521-CC6CFFE253E2}" type="datetimeFigureOut">
              <a:rPr lang="es-ES" smtClean="0"/>
              <a:t>11/04/2025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3476845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0175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2219920" y="8763000"/>
            <a:ext cx="18653760" cy="208864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EBE7B2-13AD-456D-A521-CC6CFFE253E2}" type="datetimeFigureOut">
              <a:rPr lang="es-ES" smtClean="0"/>
              <a:t>11/04/2025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359422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023237" y="1752607"/>
            <a:ext cx="37856160" cy="6362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3023242" y="8069582"/>
            <a:ext cx="18568032"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4" name="Content Placeholder 3"/>
          <p:cNvSpPr>
            <a:spLocks noGrp="1"/>
          </p:cNvSpPr>
          <p:nvPr>
            <p:ph sz="half" idx="2"/>
          </p:nvPr>
        </p:nvSpPr>
        <p:spPr>
          <a:xfrm>
            <a:off x="3023242" y="12024360"/>
            <a:ext cx="18568032"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2219922" y="8069582"/>
            <a:ext cx="18659477" cy="3954778"/>
          </a:xfrm>
        </p:spPr>
        <p:txBody>
          <a:bodyPr anchor="b"/>
          <a:lstStyle>
            <a:lvl1pPr marL="0" indent="0">
              <a:buNone/>
              <a:defRPr sz="11520" b="1"/>
            </a:lvl1pPr>
            <a:lvl2pPr marL="2194560" indent="0">
              <a:buNone/>
              <a:defRPr sz="9600" b="1"/>
            </a:lvl2pPr>
            <a:lvl3pPr marL="4389120" indent="0">
              <a:buNone/>
              <a:defRPr sz="8640" b="1"/>
            </a:lvl3pPr>
            <a:lvl4pPr marL="6583680" indent="0">
              <a:buNone/>
              <a:defRPr sz="7680" b="1"/>
            </a:lvl4pPr>
            <a:lvl5pPr marL="8778240" indent="0">
              <a:buNone/>
              <a:defRPr sz="7680" b="1"/>
            </a:lvl5pPr>
            <a:lvl6pPr marL="10972800" indent="0">
              <a:buNone/>
              <a:defRPr sz="7680" b="1"/>
            </a:lvl6pPr>
            <a:lvl7pPr marL="13167360" indent="0">
              <a:buNone/>
              <a:defRPr sz="7680" b="1"/>
            </a:lvl7pPr>
            <a:lvl8pPr marL="15361920" indent="0">
              <a:buNone/>
              <a:defRPr sz="7680" b="1"/>
            </a:lvl8pPr>
            <a:lvl9pPr marL="17556480" indent="0">
              <a:buNone/>
              <a:defRPr sz="7680" b="1"/>
            </a:lvl9pPr>
          </a:lstStyle>
          <a:p>
            <a:pPr lvl="0"/>
            <a:r>
              <a:rPr lang="en-US"/>
              <a:t>Click to edit Master text styles</a:t>
            </a:r>
          </a:p>
        </p:txBody>
      </p:sp>
      <p:sp>
        <p:nvSpPr>
          <p:cNvPr id="6" name="Content Placeholder 5"/>
          <p:cNvSpPr>
            <a:spLocks noGrp="1"/>
          </p:cNvSpPr>
          <p:nvPr>
            <p:ph sz="quarter" idx="4"/>
          </p:nvPr>
        </p:nvSpPr>
        <p:spPr>
          <a:xfrm>
            <a:off x="22219922" y="12024360"/>
            <a:ext cx="18659477" cy="176860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EBE7B2-13AD-456D-A521-CC6CFFE253E2}" type="datetimeFigureOut">
              <a:rPr lang="es-ES" smtClean="0"/>
              <a:t>11/04/2025</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896451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EBE7B2-13AD-456D-A521-CC6CFFE253E2}" type="datetimeFigureOut">
              <a:rPr lang="es-ES" smtClean="0"/>
              <a:t>11/04/2025</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2043955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EBE7B2-13AD-456D-A521-CC6CFFE253E2}" type="datetimeFigureOut">
              <a:rPr lang="es-ES" smtClean="0"/>
              <a:t>11/04/2025</a:t>
            </a:fld>
            <a:endParaRPr lang="es-ES"/>
          </a:p>
        </p:txBody>
      </p:sp>
      <p:sp>
        <p:nvSpPr>
          <p:cNvPr id="3" name="Footer Placeholder 2"/>
          <p:cNvSpPr>
            <a:spLocks noGrp="1"/>
          </p:cNvSpPr>
          <p:nvPr>
            <p:ph type="ftr" sz="quarter" idx="11"/>
          </p:nvPr>
        </p:nvSpPr>
        <p:spPr/>
        <p:txBody>
          <a:bodyPr/>
          <a:lstStyle/>
          <a:p>
            <a:endParaRPr lang="es-ES"/>
          </a:p>
        </p:txBody>
      </p:sp>
      <p:sp>
        <p:nvSpPr>
          <p:cNvPr id="4" name="Slide Number Placeholder 3"/>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2599885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Content Placeholder 2"/>
          <p:cNvSpPr>
            <a:spLocks noGrp="1"/>
          </p:cNvSpPr>
          <p:nvPr>
            <p:ph idx="1"/>
          </p:nvPr>
        </p:nvSpPr>
        <p:spPr>
          <a:xfrm>
            <a:off x="18659477" y="4739647"/>
            <a:ext cx="22219920" cy="23393400"/>
          </a:xfrm>
        </p:spPr>
        <p:txBody>
          <a:bodyPr/>
          <a:lstStyle>
            <a:lvl1pPr>
              <a:defRPr sz="15360"/>
            </a:lvl1pPr>
            <a:lvl2pPr>
              <a:defRPr sz="13440"/>
            </a:lvl2pPr>
            <a:lvl3pPr>
              <a:defRPr sz="1152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EAEBE7B2-13AD-456D-A521-CC6CFFE253E2}" type="datetimeFigureOut">
              <a:rPr lang="es-ES" smtClean="0"/>
              <a:t>11/04/2025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987243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23237" y="2194560"/>
            <a:ext cx="14156054" cy="7680960"/>
          </a:xfrm>
        </p:spPr>
        <p:txBody>
          <a:bodyPr anchor="b"/>
          <a:lstStyle>
            <a:lvl1pPr>
              <a:defRPr sz="15360"/>
            </a:lvl1pPr>
          </a:lstStyle>
          <a:p>
            <a:r>
              <a:rPr lang="en-US"/>
              <a:t>Click to edit Master title style</a:t>
            </a:r>
            <a:endParaRPr lang="en-US" dirty="0"/>
          </a:p>
        </p:txBody>
      </p:sp>
      <p:sp>
        <p:nvSpPr>
          <p:cNvPr id="3" name="Picture Placeholder 2"/>
          <p:cNvSpPr>
            <a:spLocks noGrp="1" noChangeAspect="1"/>
          </p:cNvSpPr>
          <p:nvPr>
            <p:ph type="pic" idx="1"/>
          </p:nvPr>
        </p:nvSpPr>
        <p:spPr>
          <a:xfrm>
            <a:off x="18659477" y="4739647"/>
            <a:ext cx="22219920" cy="23393400"/>
          </a:xfrm>
        </p:spPr>
        <p:txBody>
          <a:bodyPr anchor="t"/>
          <a:lstStyle>
            <a:lvl1pPr marL="0" indent="0">
              <a:buNone/>
              <a:defRPr sz="15360"/>
            </a:lvl1pPr>
            <a:lvl2pPr marL="2194560" indent="0">
              <a:buNone/>
              <a:defRPr sz="13440"/>
            </a:lvl2pPr>
            <a:lvl3pPr marL="4389120" indent="0">
              <a:buNone/>
              <a:defRPr sz="1152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r>
              <a:rPr lang="en-US"/>
              <a:t>Click icon to add picture</a:t>
            </a:r>
            <a:endParaRPr lang="en-US" dirty="0"/>
          </a:p>
        </p:txBody>
      </p:sp>
      <p:sp>
        <p:nvSpPr>
          <p:cNvPr id="4" name="Text Placeholder 3"/>
          <p:cNvSpPr>
            <a:spLocks noGrp="1"/>
          </p:cNvSpPr>
          <p:nvPr>
            <p:ph type="body" sz="half" idx="2"/>
          </p:nvPr>
        </p:nvSpPr>
        <p:spPr>
          <a:xfrm>
            <a:off x="3023237" y="9875520"/>
            <a:ext cx="14156054" cy="18295622"/>
          </a:xfrm>
        </p:spPr>
        <p:txBody>
          <a:bodyPr/>
          <a:lstStyle>
            <a:lvl1pPr marL="0" indent="0">
              <a:buNone/>
              <a:defRPr sz="7680"/>
            </a:lvl1pPr>
            <a:lvl2pPr marL="2194560" indent="0">
              <a:buNone/>
              <a:defRPr sz="6720"/>
            </a:lvl2pPr>
            <a:lvl3pPr marL="4389120" indent="0">
              <a:buNone/>
              <a:defRPr sz="5760"/>
            </a:lvl3pPr>
            <a:lvl4pPr marL="6583680" indent="0">
              <a:buNone/>
              <a:defRPr sz="4800"/>
            </a:lvl4pPr>
            <a:lvl5pPr marL="8778240" indent="0">
              <a:buNone/>
              <a:defRPr sz="4800"/>
            </a:lvl5pPr>
            <a:lvl6pPr marL="10972800" indent="0">
              <a:buNone/>
              <a:defRPr sz="4800"/>
            </a:lvl6pPr>
            <a:lvl7pPr marL="13167360" indent="0">
              <a:buNone/>
              <a:defRPr sz="4800"/>
            </a:lvl7pPr>
            <a:lvl8pPr marL="15361920" indent="0">
              <a:buNone/>
              <a:defRPr sz="4800"/>
            </a:lvl8pPr>
            <a:lvl9pPr marL="17556480" indent="0">
              <a:buNone/>
              <a:defRPr sz="4800"/>
            </a:lvl9pPr>
          </a:lstStyle>
          <a:p>
            <a:pPr lvl="0"/>
            <a:r>
              <a:rPr lang="en-US"/>
              <a:t>Click to edit Master text styles</a:t>
            </a:r>
          </a:p>
        </p:txBody>
      </p:sp>
      <p:sp>
        <p:nvSpPr>
          <p:cNvPr id="5" name="Date Placeholder 4"/>
          <p:cNvSpPr>
            <a:spLocks noGrp="1"/>
          </p:cNvSpPr>
          <p:nvPr>
            <p:ph type="dt" sz="half" idx="10"/>
          </p:nvPr>
        </p:nvSpPr>
        <p:spPr/>
        <p:txBody>
          <a:bodyPr/>
          <a:lstStyle/>
          <a:p>
            <a:fld id="{EAEBE7B2-13AD-456D-A521-CC6CFFE253E2}" type="datetimeFigureOut">
              <a:rPr lang="es-ES" smtClean="0"/>
              <a:t>11/04/2025</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3985013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BE7B2-13AD-456D-A521-CC6CFFE253E2}" type="datetimeFigureOut">
              <a:rPr lang="es-ES" smtClean="0"/>
              <a:t>11/04/2025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3408935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409642" y="1752600"/>
            <a:ext cx="9464040" cy="2789682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017522" y="1752600"/>
            <a:ext cx="27843480" cy="2789682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EBE7B2-13AD-456D-A521-CC6CFFE253E2}" type="datetimeFigureOut">
              <a:rPr lang="es-ES" smtClean="0"/>
              <a:t>11/04/2025</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CC9F177E-6353-44A0-8BA4-5E0AD789F707}" type="slidenum">
              <a:rPr lang="es-ES" smtClean="0"/>
              <a:t>‹#›</a:t>
            </a:fld>
            <a:endParaRPr lang="es-ES"/>
          </a:p>
        </p:txBody>
      </p:sp>
    </p:spTree>
    <p:extLst>
      <p:ext uri="{BB962C8B-B14F-4D97-AF65-F5344CB8AC3E}">
        <p14:creationId xmlns:p14="http://schemas.microsoft.com/office/powerpoint/2010/main" val="2551469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17520" y="1752607"/>
            <a:ext cx="37856160" cy="6362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017520" y="30510487"/>
            <a:ext cx="9875520" cy="1752600"/>
          </a:xfrm>
          <a:prstGeom prst="rect">
            <a:avLst/>
          </a:prstGeom>
        </p:spPr>
        <p:txBody>
          <a:bodyPr vert="horz" lIns="91440" tIns="45720" rIns="91440" bIns="45720" rtlCol="0" anchor="ctr"/>
          <a:lstStyle>
            <a:lvl1pPr algn="l">
              <a:defRPr sz="5760">
                <a:solidFill>
                  <a:schemeClr val="tx1">
                    <a:tint val="82000"/>
                  </a:schemeClr>
                </a:solidFill>
              </a:defRPr>
            </a:lvl1pPr>
          </a:lstStyle>
          <a:p>
            <a:fld id="{EAEBE7B2-13AD-456D-A521-CC6CFFE253E2}" type="datetimeFigureOut">
              <a:rPr lang="es-ES" smtClean="0"/>
              <a:t>11/04/2025</a:t>
            </a:fld>
            <a:endParaRPr lang="es-ES"/>
          </a:p>
        </p:txBody>
      </p:sp>
      <p:sp>
        <p:nvSpPr>
          <p:cNvPr id="5" name="Footer Placeholder 4"/>
          <p:cNvSpPr>
            <a:spLocks noGrp="1"/>
          </p:cNvSpPr>
          <p:nvPr>
            <p:ph type="ftr" sz="quarter" idx="3"/>
          </p:nvPr>
        </p:nvSpPr>
        <p:spPr>
          <a:xfrm>
            <a:off x="14538960" y="30510487"/>
            <a:ext cx="14813280" cy="1752600"/>
          </a:xfrm>
          <a:prstGeom prst="rect">
            <a:avLst/>
          </a:prstGeom>
        </p:spPr>
        <p:txBody>
          <a:bodyPr vert="horz" lIns="91440" tIns="45720" rIns="91440" bIns="45720" rtlCol="0" anchor="ctr"/>
          <a:lstStyle>
            <a:lvl1pPr algn="ctr">
              <a:defRPr sz="5760">
                <a:solidFill>
                  <a:schemeClr val="tx1">
                    <a:tint val="82000"/>
                  </a:schemeClr>
                </a:solidFill>
              </a:defRPr>
            </a:lvl1pPr>
          </a:lstStyle>
          <a:p>
            <a:endParaRPr lang="es-ES"/>
          </a:p>
        </p:txBody>
      </p:sp>
      <p:sp>
        <p:nvSpPr>
          <p:cNvPr id="6" name="Slide Number Placeholder 5"/>
          <p:cNvSpPr>
            <a:spLocks noGrp="1"/>
          </p:cNvSpPr>
          <p:nvPr>
            <p:ph type="sldNum" sz="quarter" idx="4"/>
          </p:nvPr>
        </p:nvSpPr>
        <p:spPr>
          <a:xfrm>
            <a:off x="30998160" y="30510487"/>
            <a:ext cx="9875520" cy="1752600"/>
          </a:xfrm>
          <a:prstGeom prst="rect">
            <a:avLst/>
          </a:prstGeom>
        </p:spPr>
        <p:txBody>
          <a:bodyPr vert="horz" lIns="91440" tIns="45720" rIns="91440" bIns="45720" rtlCol="0" anchor="ctr"/>
          <a:lstStyle>
            <a:lvl1pPr algn="r">
              <a:defRPr sz="5760">
                <a:solidFill>
                  <a:schemeClr val="tx1">
                    <a:tint val="82000"/>
                  </a:schemeClr>
                </a:solidFill>
              </a:defRPr>
            </a:lvl1pPr>
          </a:lstStyle>
          <a:p>
            <a:fld id="{CC9F177E-6353-44A0-8BA4-5E0AD789F707}" type="slidenum">
              <a:rPr lang="es-ES" smtClean="0"/>
              <a:t>‹#›</a:t>
            </a:fld>
            <a:endParaRPr lang="es-ES"/>
          </a:p>
        </p:txBody>
      </p:sp>
    </p:spTree>
    <p:extLst>
      <p:ext uri="{BB962C8B-B14F-4D97-AF65-F5344CB8AC3E}">
        <p14:creationId xmlns:p14="http://schemas.microsoft.com/office/powerpoint/2010/main" val="129052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link.springer.com/chapter/10.1007/978-3-031-81168-5_15" TargetMode="External"/><Relationship Id="rId3" Type="http://schemas.openxmlformats.org/officeDocument/2006/relationships/image" Target="../media/image1.tmp"/><Relationship Id="rId7" Type="http://schemas.openxmlformats.org/officeDocument/2006/relationships/hyperlink" Target="https://journals.plos.org/plosone/article?id=10.1371/journal.pone.0258361"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mp"/><Relationship Id="rId5" Type="http://schemas.openxmlformats.org/officeDocument/2006/relationships/image" Target="../media/image3.tmp"/><Relationship Id="rId10" Type="http://schemas.openxmlformats.org/officeDocument/2006/relationships/image" Target="../media/image5.tmp"/><Relationship Id="rId4" Type="http://schemas.openxmlformats.org/officeDocument/2006/relationships/image" Target="../media/image2.tmp"/><Relationship Id="rId9" Type="http://schemas.openxmlformats.org/officeDocument/2006/relationships/hyperlink" Target="https://link.springer.com/content/pdf/10.1007/s10586-022-03604-4.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3D6F9A-23AB-291B-6900-E88D0970AB5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5D12A052-20F6-6139-CA70-1F1789CBFA4D}"/>
              </a:ext>
            </a:extLst>
          </p:cNvPr>
          <p:cNvPicPr>
            <a:picLocks noChangeAspect="1"/>
          </p:cNvPicPr>
          <p:nvPr/>
        </p:nvPicPr>
        <p:blipFill>
          <a:blip r:embed="rId3"/>
          <a:stretch>
            <a:fillRect/>
          </a:stretch>
        </p:blipFill>
        <p:spPr>
          <a:xfrm>
            <a:off x="21931889" y="16445489"/>
            <a:ext cx="27436" cy="27436"/>
          </a:xfrm>
          <a:prstGeom prst="rect">
            <a:avLst/>
          </a:prstGeom>
        </p:spPr>
      </p:pic>
      <p:pic>
        <p:nvPicPr>
          <p:cNvPr id="7" name="Picture 6" descr="A close-up of blue text&#10;&#10;AI-generated content may be incorrect.">
            <a:extLst>
              <a:ext uri="{FF2B5EF4-FFF2-40B4-BE49-F238E27FC236}">
                <a16:creationId xmlns:a16="http://schemas.microsoft.com/office/drawing/2014/main" id="{69BC743D-2096-8FBE-7CCC-29F20C7428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17525" y="4191213"/>
            <a:ext cx="8379620" cy="2099896"/>
          </a:xfrm>
          <a:prstGeom prst="rect">
            <a:avLst/>
          </a:prstGeom>
        </p:spPr>
      </p:pic>
      <p:pic>
        <p:nvPicPr>
          <p:cNvPr id="16" name="Picture 15" descr="A person in a mask fishing from laptops&#10;&#10;AI-generated content may be incorrect.">
            <a:extLst>
              <a:ext uri="{FF2B5EF4-FFF2-40B4-BE49-F238E27FC236}">
                <a16:creationId xmlns:a16="http://schemas.microsoft.com/office/drawing/2014/main" id="{E321385D-FB01-4A46-DF6F-15B6D343E4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07539" y="18586949"/>
            <a:ext cx="9025250" cy="4668231"/>
          </a:xfrm>
          <a:prstGeom prst="rect">
            <a:avLst/>
          </a:prstGeom>
          <a:scene3d>
            <a:camera prst="orthographicFront"/>
            <a:lightRig rig="threePt" dir="t"/>
          </a:scene3d>
          <a:sp3d>
            <a:bevelT/>
          </a:sp3d>
        </p:spPr>
      </p:pic>
      <p:pic>
        <p:nvPicPr>
          <p:cNvPr id="17" name="Picture 16">
            <a:extLst>
              <a:ext uri="{FF2B5EF4-FFF2-40B4-BE49-F238E27FC236}">
                <a16:creationId xmlns:a16="http://schemas.microsoft.com/office/drawing/2014/main" id="{DEFC48E5-EF10-3AD6-CDCA-F885FCAF3BC6}"/>
              </a:ext>
            </a:extLst>
          </p:cNvPr>
          <p:cNvPicPr/>
          <p:nvPr/>
        </p:nvPicPr>
        <p:blipFill>
          <a:blip r:embed="rId6">
            <a:extLst>
              <a:ext uri="{28A0092B-C50C-407E-A947-70E740481C1C}">
                <a14:useLocalDpi xmlns:a14="http://schemas.microsoft.com/office/drawing/2010/main" val="0"/>
              </a:ext>
            </a:extLst>
          </a:blip>
          <a:stretch>
            <a:fillRect/>
          </a:stretch>
        </p:blipFill>
        <p:spPr>
          <a:xfrm rot="332358">
            <a:off x="37677114" y="2179144"/>
            <a:ext cx="3837647" cy="3680554"/>
          </a:xfrm>
          <a:prstGeom prst="rect">
            <a:avLst/>
          </a:prstGeom>
          <a:scene3d>
            <a:camera prst="orthographicFront"/>
            <a:lightRig rig="threePt" dir="t"/>
          </a:scene3d>
          <a:sp3d>
            <a:bevelT/>
            <a:bevelB prst="relaxedInset"/>
          </a:sp3d>
        </p:spPr>
      </p:pic>
      <p:graphicFrame>
        <p:nvGraphicFramePr>
          <p:cNvPr id="12" name="Table 11">
            <a:extLst>
              <a:ext uri="{FF2B5EF4-FFF2-40B4-BE49-F238E27FC236}">
                <a16:creationId xmlns:a16="http://schemas.microsoft.com/office/drawing/2014/main" id="{DDD523DD-B063-8147-1AF8-137D4233C1C1}"/>
              </a:ext>
            </a:extLst>
          </p:cNvPr>
          <p:cNvGraphicFramePr>
            <a:graphicFrameLocks noGrp="1"/>
          </p:cNvGraphicFramePr>
          <p:nvPr>
            <p:extLst>
              <p:ext uri="{D42A27DB-BD31-4B8C-83A1-F6EECF244321}">
                <p14:modId xmlns:p14="http://schemas.microsoft.com/office/powerpoint/2010/main" val="2251783150"/>
              </p:ext>
            </p:extLst>
          </p:nvPr>
        </p:nvGraphicFramePr>
        <p:xfrm>
          <a:off x="2117844" y="6947584"/>
          <a:ext cx="12535236" cy="11143488"/>
        </p:xfrm>
        <a:graphic>
          <a:graphicData uri="http://schemas.openxmlformats.org/drawingml/2006/table">
            <a:tbl>
              <a:tblPr firstRow="1" bandRow="1">
                <a:tableStyleId>{69012ECD-51FC-41F1-AA8D-1B2483CD663E}</a:tableStyleId>
              </a:tblPr>
              <a:tblGrid>
                <a:gridCol w="12535236">
                  <a:extLst>
                    <a:ext uri="{9D8B030D-6E8A-4147-A177-3AD203B41FA5}">
                      <a16:colId xmlns:a16="http://schemas.microsoft.com/office/drawing/2014/main" val="403467544"/>
                    </a:ext>
                  </a:extLst>
                </a:gridCol>
              </a:tblGrid>
              <a:tr h="93268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Introduction</a:t>
                      </a:r>
                      <a:endParaRPr lang="es-E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txBody>
                  <a:tcPr marL="329184" marR="329184" marT="164592" marB="164592">
                    <a:lnB w="12700" cap="flat" cmpd="sng" algn="ctr">
                      <a:noFill/>
                      <a:prstDash val="solid"/>
                      <a:miter lim="800000"/>
                    </a:lnB>
                  </a:tcPr>
                </a:tc>
                <a:extLst>
                  <a:ext uri="{0D108BD9-81ED-4DB2-BD59-A6C34878D82A}">
                    <a16:rowId xmlns:a16="http://schemas.microsoft.com/office/drawing/2014/main" val="2445854799"/>
                  </a:ext>
                </a:extLst>
              </a:tr>
              <a:tr h="8229600">
                <a:tc>
                  <a:txBody>
                    <a:bodyPr/>
                    <a:lstStyle/>
                    <a:p>
                      <a:pPr algn="l">
                        <a:lnSpc>
                          <a:spcPct val="100000"/>
                        </a:lnSpc>
                      </a:pPr>
                      <a:r>
                        <a:rPr lang="en-US" sz="3200" dirty="0">
                          <a:latin typeface="Helvetica" panose="020B0604020202020204" pitchFamily="34" charset="0"/>
                          <a:cs typeface="Helvetica" panose="020B0604020202020204" pitchFamily="34" charset="0"/>
                        </a:rPr>
                        <a:t>Phishing attacks are among the most destructive and widespread cyber threats, targeting individuals and enterprises worldwide.(1) By imitating trusted entities, these attacks aim to steal sensitive data such as passwords and financial information, causing significant financial losses and data breaches.(3) </a:t>
                      </a:r>
                    </a:p>
                    <a:p>
                      <a:pPr algn="l">
                        <a:lnSpc>
                          <a:spcPct val="100000"/>
                        </a:lnSpc>
                      </a:pPr>
                      <a:r>
                        <a:rPr lang="en-US" sz="3200" dirty="0">
                          <a:latin typeface="Helvetica" panose="020B0604020202020204" pitchFamily="34" charset="0"/>
                          <a:cs typeface="Helvetica" panose="020B0604020202020204" pitchFamily="34" charset="0"/>
                        </a:rPr>
                        <a:t>To address these challenges, this project introduces a Java-based phishing detection system that flags phishing emails through keyword analysis. By identifying common phishing patterns within email content,(2) the system provides a simple yet effective method for distinguishing legitimate emails from phishing attempts. Initial testing has shown promising results, demonstrating its potential to enhance user security and mitigate phishing threats.</a:t>
                      </a:r>
                    </a:p>
                    <a:p>
                      <a:pPr algn="l">
                        <a:lnSpc>
                          <a:spcPct val="100000"/>
                        </a:lnSpc>
                      </a:pPr>
                      <a:r>
                        <a:rPr lang="en-US" sz="3200" dirty="0">
                          <a:latin typeface="Helvetica" panose="020B0604020202020204" pitchFamily="34" charset="0"/>
                          <a:cs typeface="Helvetica" panose="020B0604020202020204" pitchFamily="34" charset="0"/>
                        </a:rPr>
                        <a:t>The project also explores the evolution of phishing tactics, modern detection techniques—including machine learning and AI—and the critical role of advanced phishing detection in reducing cyber risks. With its practical approach and focus on improving cybersecurity, this proof of concept aims to offer insights and strategies to combat phishing attacks and minimize their impact.</a:t>
                      </a: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58105916"/>
                  </a:ext>
                </a:extLst>
              </a:tr>
            </a:tbl>
          </a:graphicData>
        </a:graphic>
      </p:graphicFrame>
      <p:graphicFrame>
        <p:nvGraphicFramePr>
          <p:cNvPr id="13" name="Table 12">
            <a:extLst>
              <a:ext uri="{FF2B5EF4-FFF2-40B4-BE49-F238E27FC236}">
                <a16:creationId xmlns:a16="http://schemas.microsoft.com/office/drawing/2014/main" id="{F4140A2D-C807-362D-AA0A-312F499CA572}"/>
              </a:ext>
            </a:extLst>
          </p:cNvPr>
          <p:cNvGraphicFramePr>
            <a:graphicFrameLocks noGrp="1"/>
          </p:cNvGraphicFramePr>
          <p:nvPr>
            <p:extLst>
              <p:ext uri="{D42A27DB-BD31-4B8C-83A1-F6EECF244321}">
                <p14:modId xmlns:p14="http://schemas.microsoft.com/office/powerpoint/2010/main" val="2250845157"/>
              </p:ext>
            </p:extLst>
          </p:nvPr>
        </p:nvGraphicFramePr>
        <p:xfrm>
          <a:off x="2134618" y="23816009"/>
          <a:ext cx="12535236" cy="7729728"/>
        </p:xfrm>
        <a:graphic>
          <a:graphicData uri="http://schemas.openxmlformats.org/drawingml/2006/table">
            <a:tbl>
              <a:tblPr firstRow="1" bandRow="1">
                <a:tableStyleId>{69012ECD-51FC-41F1-AA8D-1B2483CD663E}</a:tableStyleId>
              </a:tblPr>
              <a:tblGrid>
                <a:gridCol w="12535236">
                  <a:extLst>
                    <a:ext uri="{9D8B030D-6E8A-4147-A177-3AD203B41FA5}">
                      <a16:colId xmlns:a16="http://schemas.microsoft.com/office/drawing/2014/main" val="403467544"/>
                    </a:ext>
                  </a:extLst>
                </a:gridCol>
              </a:tblGrid>
              <a:tr h="932688">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Objectives</a:t>
                      </a: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445854799"/>
                  </a:ext>
                </a:extLst>
              </a:tr>
              <a:tr h="5157216">
                <a:tc>
                  <a:txBody>
                    <a:bodyPr/>
                    <a:lstStyle/>
                    <a:p>
                      <a:pPr algn="l">
                        <a:lnSpc>
                          <a:spcPct val="100000"/>
                        </a:lnSpc>
                      </a:pPr>
                      <a:r>
                        <a:rPr lang="en-US" sz="3200" dirty="0">
                          <a:latin typeface="Helvetica" panose="020B0604020202020204" pitchFamily="34" charset="0"/>
                          <a:cs typeface="Helvetica" panose="020B0604020202020204" pitchFamily="34" charset="0"/>
                        </a:rPr>
                        <a:t>The primary objective of this project is to develop a proof of concept for a phishing detection extension that enhances cybersecurity measures by demonstrating a simple yet effective method to distinguish legitimate emails from phishing attempts. This prototype will analyze email content to identify common phishing keywords and patterns.</a:t>
                      </a:r>
                    </a:p>
                    <a:p>
                      <a:pPr algn="l">
                        <a:lnSpc>
                          <a:spcPct val="100000"/>
                        </a:lnSpc>
                      </a:pPr>
                      <a:r>
                        <a:rPr lang="en-US" sz="3200" dirty="0">
                          <a:latin typeface="Helvetica" panose="020B0604020202020204" pitchFamily="34" charset="0"/>
                          <a:cs typeface="Helvetica" panose="020B0604020202020204" pitchFamily="34" charset="0"/>
                        </a:rPr>
                        <a:t>Additionally, the project aims to test this proof of concept in a simulated real-time setup to evaluate its accuracy and reliability in identifying phishing attempts. The extension is designed to illustrate how regular updates to keywords and patterns can help it adapt to evolving phishing tactics, showcasing its potential to maintain effectiveness over time and improve cybersecurity defenses.</a:t>
                      </a: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tcPr>
                </a:tc>
                <a:extLst>
                  <a:ext uri="{0D108BD9-81ED-4DB2-BD59-A6C34878D82A}">
                    <a16:rowId xmlns:a16="http://schemas.microsoft.com/office/drawing/2014/main" val="258105916"/>
                  </a:ext>
                </a:extLst>
              </a:tr>
            </a:tbl>
          </a:graphicData>
        </a:graphic>
      </p:graphicFrame>
      <p:graphicFrame>
        <p:nvGraphicFramePr>
          <p:cNvPr id="30" name="Table 29">
            <a:extLst>
              <a:ext uri="{FF2B5EF4-FFF2-40B4-BE49-F238E27FC236}">
                <a16:creationId xmlns:a16="http://schemas.microsoft.com/office/drawing/2014/main" id="{5B1CF443-CD0F-4FE6-E14F-47319717B0FA}"/>
              </a:ext>
            </a:extLst>
          </p:cNvPr>
          <p:cNvGraphicFramePr>
            <a:graphicFrameLocks noGrp="1"/>
          </p:cNvGraphicFramePr>
          <p:nvPr>
            <p:extLst>
              <p:ext uri="{D42A27DB-BD31-4B8C-83A1-F6EECF244321}">
                <p14:modId xmlns:p14="http://schemas.microsoft.com/office/powerpoint/2010/main" val="3127562740"/>
              </p:ext>
            </p:extLst>
          </p:nvPr>
        </p:nvGraphicFramePr>
        <p:xfrm>
          <a:off x="15424839" y="6941317"/>
          <a:ext cx="12535240" cy="24554688"/>
        </p:xfrm>
        <a:graphic>
          <a:graphicData uri="http://schemas.openxmlformats.org/drawingml/2006/table">
            <a:tbl>
              <a:tblPr firstRow="1" bandRow="1">
                <a:tableStyleId>{69012ECD-51FC-41F1-AA8D-1B2483CD663E}</a:tableStyleId>
              </a:tblPr>
              <a:tblGrid>
                <a:gridCol w="12535240">
                  <a:extLst>
                    <a:ext uri="{9D8B030D-6E8A-4147-A177-3AD203B41FA5}">
                      <a16:colId xmlns:a16="http://schemas.microsoft.com/office/drawing/2014/main" val="403467544"/>
                    </a:ext>
                  </a:extLst>
                </a:gridCol>
              </a:tblGrid>
              <a:tr h="932688">
                <a:tc>
                  <a:txBody>
                    <a:bodyPr/>
                    <a:lstStyle/>
                    <a:p>
                      <a:r>
                        <a:rPr lang="en-U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Methodology</a:t>
                      </a:r>
                      <a:endParaRPr lang="es-E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txBody>
                  <a:tcPr marL="329184" marR="329184" marT="164592" marB="164592">
                    <a:lnB w="12700" cap="flat" cmpd="sng" algn="ctr">
                      <a:noFill/>
                      <a:prstDash val="solid"/>
                      <a:miter lim="800000"/>
                    </a:lnB>
                  </a:tcPr>
                </a:tc>
                <a:extLst>
                  <a:ext uri="{0D108BD9-81ED-4DB2-BD59-A6C34878D82A}">
                    <a16:rowId xmlns:a16="http://schemas.microsoft.com/office/drawing/2014/main" val="2445854799"/>
                  </a:ext>
                </a:extLst>
              </a:tr>
              <a:tr h="18434304">
                <a:tc>
                  <a:txBody>
                    <a:bodyPr/>
                    <a:lstStyle/>
                    <a:p>
                      <a:r>
                        <a:rPr lang="en-US" sz="3200" dirty="0">
                          <a:latin typeface="Helvetica" panose="020B0604020202020204" pitchFamily="34" charset="0"/>
                          <a:cs typeface="Helvetica" panose="020B0604020202020204" pitchFamily="34" charset="0"/>
                        </a:rPr>
                        <a:t>The following guidelines will outline the steps taken to develop and implement the Phishing Detection Extension system.</a:t>
                      </a:r>
                    </a:p>
                    <a:p>
                      <a:endParaRPr lang="en-US" sz="2200" dirty="0">
                        <a:latin typeface="Helvetica" panose="020B0604020202020204" pitchFamily="34" charset="0"/>
                        <a:cs typeface="Helvetica" panose="020B0604020202020204" pitchFamily="34" charset="0"/>
                      </a:endParaRPr>
                    </a:p>
                    <a:p>
                      <a:r>
                        <a:rPr lang="en-US" sz="3200" dirty="0">
                          <a:latin typeface="Helvetica" panose="020B0604020202020204" pitchFamily="34" charset="0"/>
                          <a:cs typeface="Helvetica" panose="020B0604020202020204" pitchFamily="34" charset="0"/>
                        </a:rPr>
                        <a:t>The frontend of the Phishing Detection tool is built as a single-page HTML application with a clean, tab-based interface. It allows users to either input suspicious URLs or paste the full text of a potentially harmful email. The design emphasizes simplicity, accessibility, and responsiveness using modern HTML and CSS. The app offers two scanning features: one that accepts direct URLs and another that extracts and analyzes links from email content. JavaScript handles user interaction, extracting URLs, making asynchronous requests to the backend, and rendering threat reports in real-time. This interface showcases a realistic user experience that mimics how a browser extension could proactively warn users about phishing links before they engage with them.</a:t>
                      </a:r>
                    </a:p>
                    <a:p>
                      <a:endParaRPr lang="en-US" sz="2200" dirty="0">
                        <a:latin typeface="Helvetica" panose="020B0604020202020204" pitchFamily="34" charset="0"/>
                        <a:cs typeface="Helvetica" panose="020B0604020202020204" pitchFamily="34" charset="0"/>
                      </a:endParaRPr>
                    </a:p>
                    <a:p>
                      <a:r>
                        <a:rPr lang="en-US" sz="3200" dirty="0">
                          <a:latin typeface="Helvetica" panose="020B0604020202020204" pitchFamily="34" charset="0"/>
                          <a:cs typeface="Helvetica" panose="020B0604020202020204" pitchFamily="34" charset="0"/>
                        </a:rPr>
                        <a:t>The package.json file defines the project as a Node.js application that acts as a secure proxy between the frontend and third-party threat intelligence services like VirusTotal and AbuseIPDB. It lists essential dependencies including:</a:t>
                      </a:r>
                    </a:p>
                    <a:p>
                      <a:endParaRPr lang="en-US" sz="2200" dirty="0">
                        <a:latin typeface="Helvetica" panose="020B0604020202020204" pitchFamily="34" charset="0"/>
                        <a:cs typeface="Helvetica" panose="020B0604020202020204" pitchFamily="34" charset="0"/>
                      </a:endParaRPr>
                    </a:p>
                    <a:p>
                      <a:r>
                        <a:rPr lang="en-US" sz="3200" dirty="0">
                          <a:latin typeface="Helvetica" panose="020B0604020202020204" pitchFamily="34" charset="0"/>
                          <a:cs typeface="Helvetica" panose="020B0604020202020204" pitchFamily="34" charset="0"/>
                        </a:rPr>
                        <a:t>•  </a:t>
                      </a:r>
                      <a:r>
                        <a:rPr lang="en-US" sz="3200" b="1" dirty="0">
                          <a:latin typeface="Helvetica" panose="020B0604020202020204" pitchFamily="34" charset="0"/>
                          <a:cs typeface="Helvetica" panose="020B0604020202020204" pitchFamily="34" charset="0"/>
                        </a:rPr>
                        <a:t>Express</a:t>
                      </a:r>
                      <a:r>
                        <a:rPr lang="en-US" sz="3200" dirty="0">
                          <a:latin typeface="Helvetica" panose="020B0604020202020204" pitchFamily="34" charset="0"/>
                          <a:cs typeface="Helvetica" panose="020B0604020202020204" pitchFamily="34" charset="0"/>
                        </a:rPr>
                        <a:t> (for building the API server),</a:t>
                      </a:r>
                    </a:p>
                    <a:p>
                      <a:r>
                        <a:rPr lang="en-US" sz="3200" dirty="0">
                          <a:latin typeface="Helvetica" panose="020B0604020202020204" pitchFamily="34" charset="0"/>
                          <a:cs typeface="Helvetica" panose="020B0604020202020204" pitchFamily="34" charset="0"/>
                        </a:rPr>
                        <a:t>•  </a:t>
                      </a:r>
                      <a:r>
                        <a:rPr lang="en-US" sz="3200" b="1" dirty="0">
                          <a:latin typeface="Helvetica" panose="020B0604020202020204" pitchFamily="34" charset="0"/>
                          <a:cs typeface="Helvetica" panose="020B0604020202020204" pitchFamily="34" charset="0"/>
                        </a:rPr>
                        <a:t>Axios</a:t>
                      </a:r>
                      <a:r>
                        <a:rPr lang="en-US" sz="3200" dirty="0">
                          <a:latin typeface="Helvetica" panose="020B0604020202020204" pitchFamily="34" charset="0"/>
                          <a:cs typeface="Helvetica" panose="020B0604020202020204" pitchFamily="34" charset="0"/>
                        </a:rPr>
                        <a:t> (for making HTTP requests),</a:t>
                      </a:r>
                    </a:p>
                    <a:p>
                      <a:r>
                        <a:rPr lang="en-US" sz="3200" dirty="0">
                          <a:latin typeface="Helvetica" panose="020B0604020202020204" pitchFamily="34" charset="0"/>
                          <a:cs typeface="Helvetica" panose="020B0604020202020204" pitchFamily="34" charset="0"/>
                        </a:rPr>
                        <a:t>•  </a:t>
                      </a:r>
                      <a:r>
                        <a:rPr lang="en-US" sz="3200" b="1" dirty="0">
                          <a:latin typeface="Helvetica" panose="020B0604020202020204" pitchFamily="34" charset="0"/>
                          <a:cs typeface="Helvetica" panose="020B0604020202020204" pitchFamily="34" charset="0"/>
                        </a:rPr>
                        <a:t>CORS</a:t>
                      </a:r>
                      <a:r>
                        <a:rPr lang="en-US" sz="3200" dirty="0">
                          <a:latin typeface="Helvetica" panose="020B0604020202020204" pitchFamily="34" charset="0"/>
                          <a:cs typeface="Helvetica" panose="020B0604020202020204" pitchFamily="34" charset="0"/>
                        </a:rPr>
                        <a:t> (for enabling safe frontend-backend communication).</a:t>
                      </a:r>
                    </a:p>
                    <a:p>
                      <a:endParaRPr lang="en-US" sz="2200" dirty="0">
                        <a:latin typeface="Helvetica" panose="020B0604020202020204" pitchFamily="34" charset="0"/>
                        <a:cs typeface="Helvetica" panose="020B0604020202020204" pitchFamily="34" charset="0"/>
                      </a:endParaRPr>
                    </a:p>
                    <a:p>
                      <a:r>
                        <a:rPr lang="en-US" sz="3200" dirty="0">
                          <a:latin typeface="Helvetica" panose="020B0604020202020204" pitchFamily="34" charset="0"/>
                          <a:cs typeface="Helvetica" panose="020B0604020202020204" pitchFamily="34" charset="0"/>
                        </a:rPr>
                        <a:t>It also includes a start script (node server.js) for ease of execution and testing. This setup ensures the backend environment is portable, secure, and easy to deploy or maintain — even in a proof-of-concept phase.</a:t>
                      </a:r>
                    </a:p>
                    <a:p>
                      <a:endParaRPr lang="en-US" sz="2200" dirty="0">
                        <a:latin typeface="Helvetica" panose="020B0604020202020204" pitchFamily="34" charset="0"/>
                        <a:cs typeface="Helvetica" panose="020B0604020202020204" pitchFamily="34" charset="0"/>
                      </a:endParaRPr>
                    </a:p>
                    <a:p>
                      <a:r>
                        <a:rPr lang="en-US" sz="3200" dirty="0">
                          <a:latin typeface="Helvetica" panose="020B0604020202020204" pitchFamily="34" charset="0"/>
                          <a:cs typeface="Helvetica" panose="020B0604020202020204" pitchFamily="34" charset="0"/>
                        </a:rPr>
                        <a:t>The server is built using Express.js and plays the critical role of securely handling scan requests. It exposes two main API endpoints:</a:t>
                      </a:r>
                    </a:p>
                    <a:p>
                      <a:endParaRPr lang="en-US" sz="2200" dirty="0">
                        <a:latin typeface="Helvetica" panose="020B0604020202020204" pitchFamily="34" charset="0"/>
                        <a:cs typeface="Helvetica" panose="020B0604020202020204" pitchFamily="34" charset="0"/>
                      </a:endParaRPr>
                    </a:p>
                    <a:p>
                      <a:r>
                        <a:rPr lang="en-US" sz="3200" b="1" dirty="0">
                          <a:latin typeface="Helvetica" panose="020B0604020202020204" pitchFamily="34" charset="0"/>
                          <a:cs typeface="Helvetica" panose="020B0604020202020204" pitchFamily="34" charset="0"/>
                        </a:rPr>
                        <a:t>•  /api/virustotal: </a:t>
                      </a:r>
                      <a:r>
                        <a:rPr lang="en-US" sz="3200" dirty="0">
                          <a:latin typeface="Helvetica" panose="020B0604020202020204" pitchFamily="34" charset="0"/>
                          <a:cs typeface="Helvetica" panose="020B0604020202020204" pitchFamily="34" charset="0"/>
                        </a:rPr>
                        <a:t>Accepts a URL, submits it to the VirusTotal scan API, waits briefly, and retrieves the final analysis. It returns the number of antivirus engines that flagged the URL as malicious or suspicious, along with a link to the full report.</a:t>
                      </a:r>
                    </a:p>
                    <a:p>
                      <a:endParaRPr lang="en-US" sz="2200" dirty="0">
                        <a:latin typeface="Helvetica" panose="020B0604020202020204" pitchFamily="34" charset="0"/>
                        <a:cs typeface="Helvetica" panose="020B0604020202020204" pitchFamily="34" charset="0"/>
                      </a:endParaRPr>
                    </a:p>
                    <a:p>
                      <a:r>
                        <a:rPr lang="en-US" sz="3200" b="1" dirty="0">
                          <a:latin typeface="Helvetica" panose="020B0604020202020204" pitchFamily="34" charset="0"/>
                          <a:cs typeface="Helvetica" panose="020B0604020202020204" pitchFamily="34" charset="0"/>
                        </a:rPr>
                        <a:t>•  /api/abuseipdb: </a:t>
                      </a:r>
                      <a:r>
                        <a:rPr lang="en-US" sz="3200" dirty="0">
                          <a:latin typeface="Helvetica" panose="020B0604020202020204" pitchFamily="34" charset="0"/>
                          <a:cs typeface="Helvetica" panose="020B0604020202020204" pitchFamily="34" charset="0"/>
                        </a:rPr>
                        <a:t>Accepts a domain, resolves it to an IP address, and checks the IP against AbuseIPDB to determine its abuse confidence score and associated metadata (like ISP and country).</a:t>
                      </a:r>
                    </a:p>
                    <a:p>
                      <a:endParaRPr lang="en-US" sz="2200" dirty="0">
                        <a:latin typeface="Helvetica" panose="020B0604020202020204" pitchFamily="34" charset="0"/>
                        <a:cs typeface="Helvetica" panose="020B0604020202020204" pitchFamily="34" charset="0"/>
                      </a:endParaRPr>
                    </a:p>
                    <a:p>
                      <a:r>
                        <a:rPr lang="en-US" sz="3200" dirty="0">
                          <a:latin typeface="Helvetica" panose="020B0604020202020204" pitchFamily="34" charset="0"/>
                          <a:cs typeface="Helvetica" panose="020B0604020202020204" pitchFamily="34" charset="0"/>
                        </a:rPr>
                        <a:t>The backend is designed to hide API keys from the client, ensuring security. It also supports cross-origin requests from the frontend and serves static files from a public directory. A fallback route ensures that the interface loads even if a user navigates directly to an undefined path</a:t>
                      </a:r>
                      <a:r>
                        <a:rPr lang="en-US" sz="2900" dirty="0">
                          <a:latin typeface="Helvetica" panose="020B0604020202020204" pitchFamily="34" charset="0"/>
                          <a:cs typeface="Helvetica" panose="020B0604020202020204" pitchFamily="34" charset="0"/>
                        </a:rPr>
                        <a:t>.</a:t>
                      </a: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58105916"/>
                  </a:ext>
                </a:extLst>
              </a:tr>
            </a:tbl>
          </a:graphicData>
        </a:graphic>
      </p:graphicFrame>
      <p:graphicFrame>
        <p:nvGraphicFramePr>
          <p:cNvPr id="34" name="Table 33">
            <a:extLst>
              <a:ext uri="{FF2B5EF4-FFF2-40B4-BE49-F238E27FC236}">
                <a16:creationId xmlns:a16="http://schemas.microsoft.com/office/drawing/2014/main" id="{3A6797FD-5E0F-1B19-F718-E884F0444B06}"/>
              </a:ext>
            </a:extLst>
          </p:cNvPr>
          <p:cNvGraphicFramePr>
            <a:graphicFrameLocks noGrp="1"/>
          </p:cNvGraphicFramePr>
          <p:nvPr>
            <p:extLst>
              <p:ext uri="{D42A27DB-BD31-4B8C-83A1-F6EECF244321}">
                <p14:modId xmlns:p14="http://schemas.microsoft.com/office/powerpoint/2010/main" val="2024147268"/>
              </p:ext>
            </p:extLst>
          </p:nvPr>
        </p:nvGraphicFramePr>
        <p:xfrm>
          <a:off x="28676547" y="16484618"/>
          <a:ext cx="13046173" cy="8217408"/>
        </p:xfrm>
        <a:graphic>
          <a:graphicData uri="http://schemas.openxmlformats.org/drawingml/2006/table">
            <a:tbl>
              <a:tblPr firstRow="1" bandRow="1">
                <a:tableStyleId>{69012ECD-51FC-41F1-AA8D-1B2483CD663E}</a:tableStyleId>
              </a:tblPr>
              <a:tblGrid>
                <a:gridCol w="13046173">
                  <a:extLst>
                    <a:ext uri="{9D8B030D-6E8A-4147-A177-3AD203B41FA5}">
                      <a16:colId xmlns:a16="http://schemas.microsoft.com/office/drawing/2014/main" val="403467544"/>
                    </a:ext>
                  </a:extLst>
                </a:gridCol>
              </a:tblGrid>
              <a:tr h="932688">
                <a:tc>
                  <a:txBody>
                    <a:bodyPr/>
                    <a:lstStyle/>
                    <a:p>
                      <a:r>
                        <a:rPr lang="en-U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Results &amp; Conclusion</a:t>
                      </a:r>
                    </a:p>
                  </a:txBody>
                  <a:tcPr marL="329184" marR="329184" marT="164592" marB="164592">
                    <a:lnB w="12700" cap="flat" cmpd="sng" algn="ctr">
                      <a:noFill/>
                      <a:prstDash val="solid"/>
                      <a:miter lim="800000"/>
                    </a:lnB>
                  </a:tcPr>
                </a:tc>
                <a:extLst>
                  <a:ext uri="{0D108BD9-81ED-4DB2-BD59-A6C34878D82A}">
                    <a16:rowId xmlns:a16="http://schemas.microsoft.com/office/drawing/2014/main" val="2445854799"/>
                  </a:ext>
                </a:extLst>
              </a:tr>
              <a:tr h="5332781">
                <a:tc>
                  <a:txBody>
                    <a:bodyPr/>
                    <a:lstStyle/>
                    <a:p>
                      <a:r>
                        <a:rPr lang="en-US" sz="3200" dirty="0">
                          <a:latin typeface="Helvetica" panose="020B0604020202020204" pitchFamily="34" charset="0"/>
                          <a:cs typeface="Helvetica" panose="020B0604020202020204" pitchFamily="34" charset="0"/>
                        </a:rPr>
                        <a:t>The Phishing Detection Extension prototype demonstrated excellent accuracy, reliably distinguishing between "phishing" and "legitimate" emails with minimal errors. Its performance during testing field highlights its potential as a reliable tool for threat detection and offers valuable insights into combating phishing attacks, contributing to advancements in the cybersecurity.</a:t>
                      </a:r>
                    </a:p>
                    <a:p>
                      <a:r>
                        <a:rPr lang="en-US" sz="3200" dirty="0">
                          <a:latin typeface="Helvetica" panose="020B0604020202020204" pitchFamily="34" charset="0"/>
                          <a:cs typeface="Helvetica" panose="020B0604020202020204" pitchFamily="34" charset="0"/>
                        </a:rPr>
                        <a:t>The successful demonstration of this proof of concept underscores its ability to mitigate phishing threats and protect sensitive information from cybercriminals. Furthermore, this project establishes a foundation for future research aimed at addressing emerging cybersecurity challenges. By continuously updating keywords and patterns, the extension can adapt to evolving phishing tactics and maintain its effectiveness over time, ultimately enhancing the security of individuals and organizations.</a:t>
                      </a: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58105916"/>
                  </a:ext>
                </a:extLst>
              </a:tr>
            </a:tbl>
          </a:graphicData>
        </a:graphic>
      </p:graphicFrame>
      <p:graphicFrame>
        <p:nvGraphicFramePr>
          <p:cNvPr id="37" name="Table 36">
            <a:extLst>
              <a:ext uri="{FF2B5EF4-FFF2-40B4-BE49-F238E27FC236}">
                <a16:creationId xmlns:a16="http://schemas.microsoft.com/office/drawing/2014/main" id="{4EC558B7-49DB-F050-19A5-432C68BD4D3C}"/>
              </a:ext>
            </a:extLst>
          </p:cNvPr>
          <p:cNvGraphicFramePr>
            <a:graphicFrameLocks noGrp="1"/>
          </p:cNvGraphicFramePr>
          <p:nvPr>
            <p:extLst>
              <p:ext uri="{D42A27DB-BD31-4B8C-83A1-F6EECF244321}">
                <p14:modId xmlns:p14="http://schemas.microsoft.com/office/powerpoint/2010/main" val="1246295095"/>
              </p:ext>
            </p:extLst>
          </p:nvPr>
        </p:nvGraphicFramePr>
        <p:xfrm>
          <a:off x="28657663" y="24848232"/>
          <a:ext cx="13115698" cy="6641592"/>
        </p:xfrm>
        <a:graphic>
          <a:graphicData uri="http://schemas.openxmlformats.org/drawingml/2006/table">
            <a:tbl>
              <a:tblPr firstRow="1" bandRow="1">
                <a:tableStyleId>{69012ECD-51FC-41F1-AA8D-1B2483CD663E}</a:tableStyleId>
              </a:tblPr>
              <a:tblGrid>
                <a:gridCol w="13115698">
                  <a:extLst>
                    <a:ext uri="{9D8B030D-6E8A-4147-A177-3AD203B41FA5}">
                      <a16:colId xmlns:a16="http://schemas.microsoft.com/office/drawing/2014/main" val="403467544"/>
                    </a:ext>
                  </a:extLst>
                </a:gridCol>
              </a:tblGrid>
              <a:tr h="932688">
                <a:tc>
                  <a:txBody>
                    <a:bodyPr/>
                    <a:lstStyle/>
                    <a:p>
                      <a:r>
                        <a:rPr lang="en-U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References</a:t>
                      </a:r>
                      <a:endParaRPr lang="es-E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txBody>
                  <a:tcPr marL="329184" marR="329184" marT="164592" marB="164592">
                    <a:lnB w="12700" cap="flat" cmpd="sng" algn="ctr">
                      <a:noFill/>
                      <a:prstDash val="solid"/>
                      <a:miter lim="800000"/>
                    </a:lnB>
                  </a:tcPr>
                </a:tc>
                <a:extLst>
                  <a:ext uri="{0D108BD9-81ED-4DB2-BD59-A6C34878D82A}">
                    <a16:rowId xmlns:a16="http://schemas.microsoft.com/office/drawing/2014/main" val="2445854799"/>
                  </a:ext>
                </a:extLst>
              </a:tr>
              <a:tr h="4498164">
                <a:tc>
                  <a:txBody>
                    <a:bodyPr/>
                    <a:lstStyle/>
                    <a:p>
                      <a:pPr marL="112713" marR="0" lvl="0" indent="-112713">
                        <a:lnSpc>
                          <a:spcPct val="107000"/>
                        </a:lnSpc>
                        <a:buFont typeface="+mj-lt"/>
                        <a:buAutoNum type="arabicPeriod"/>
                        <a:tabLst>
                          <a:tab pos="457200" algn="l"/>
                        </a:tabLst>
                      </a:pPr>
                      <a:r>
                        <a:rPr lang="en-US" sz="2700" b="1" u="none" kern="0" noProof="0" dirty="0">
                          <a:solidFill>
                            <a:schemeClr val="tx1"/>
                          </a:solidFill>
                          <a:effectLst/>
                          <a:latin typeface="Helvetica" panose="020B0604020202020204" pitchFamily="34" charset="0"/>
                          <a:ea typeface="Times New Roman" panose="02020603050405020304" pitchFamily="18" charset="0"/>
                          <a:cs typeface="Helvetica" panose="020B0604020202020204" pitchFamily="34" charset="0"/>
                        </a:rPr>
                        <a:t>Dutta, A. K. (2021). Detecting phishing websites using machine learning techniques. </a:t>
                      </a:r>
                      <a:r>
                        <a:rPr lang="en-US" sz="2700" b="1" kern="0" noProof="0" dirty="0">
                          <a:effectLst/>
                          <a:latin typeface="Helvetica" panose="020B0604020202020204" pitchFamily="34" charset="0"/>
                          <a:ea typeface="Times New Roman" panose="02020603050405020304" pitchFamily="18" charset="0"/>
                          <a:cs typeface="Helvetica" panose="020B0604020202020204" pitchFamily="34" charset="0"/>
                        </a:rPr>
                        <a:t>PLOS ONE, 16(10), e0258361.</a:t>
                      </a:r>
                      <a:r>
                        <a:rPr lang="en-US" sz="2700" kern="0" noProof="0" dirty="0">
                          <a:effectLst/>
                          <a:latin typeface="Helvetica" panose="020B0604020202020204" pitchFamily="34" charset="0"/>
                          <a:ea typeface="Times New Roman" panose="02020603050405020304" pitchFamily="18" charset="0"/>
                          <a:cs typeface="Helvetica" panose="020B0604020202020204" pitchFamily="34" charset="0"/>
                        </a:rPr>
                        <a:t> </a:t>
                      </a:r>
                      <a:r>
                        <a:rPr lang="en-US" sz="2700" u="sng" kern="0" noProof="0" dirty="0">
                          <a:solidFill>
                            <a:srgbClr val="467886"/>
                          </a:solidFill>
                          <a:effectLst/>
                          <a:latin typeface="Helvetica" panose="020B0604020202020204" pitchFamily="34" charset="0"/>
                          <a:ea typeface="Times New Roman" panose="02020603050405020304" pitchFamily="18" charset="0"/>
                          <a:cs typeface="Helvetica" panose="020B0604020202020204" pitchFamily="34" charset="0"/>
                          <a:hlinkClick r:id="rId7"/>
                        </a:rPr>
                        <a:t>https://journals.plos.org/plosone/article?id=10.1371/journal.pone.0258361</a:t>
                      </a:r>
                      <a:endParaRPr lang="en-US" sz="2700" u="sng" kern="100" noProof="0" dirty="0">
                        <a:solidFill>
                          <a:srgbClr val="467886"/>
                        </a:solidFill>
                        <a:latin typeface="Helvetica" panose="020B0604020202020204" pitchFamily="34" charset="0"/>
                        <a:ea typeface="Times New Roman" panose="02020603050405020304" pitchFamily="18" charset="0"/>
                        <a:cs typeface="Helvetica" panose="020B0604020202020204" pitchFamily="34" charset="0"/>
                      </a:endParaRPr>
                    </a:p>
                    <a:p>
                      <a:pPr marL="112713" marR="0" lvl="0" indent="-112713">
                        <a:lnSpc>
                          <a:spcPct val="107000"/>
                        </a:lnSpc>
                        <a:buFont typeface="+mj-lt"/>
                        <a:buAutoNum type="arabicPeriod"/>
                        <a:tabLst>
                          <a:tab pos="457200" algn="l"/>
                        </a:tabLst>
                      </a:pPr>
                      <a:r>
                        <a:rPr lang="en-US" sz="2700" b="1" kern="0" noProof="0" dirty="0">
                          <a:effectLst/>
                          <a:latin typeface="Helvetica" panose="020B0604020202020204" pitchFamily="34" charset="0"/>
                          <a:ea typeface="Times New Roman" panose="02020603050405020304" pitchFamily="18" charset="0"/>
                          <a:cs typeface="Helvetica" panose="020B0604020202020204" pitchFamily="34" charset="0"/>
                        </a:rPr>
                        <a:t>Gnanesh, A., Deepesh, D. A., Hegde, B., Vyasamudri, S., &amp; Sarasvathi, V. (2025). Real-time phishing detection using lexical analysis and visual similarity. Broadband Communications, Networks, and Systems (BROADNETS 2024). </a:t>
                      </a:r>
                      <a:r>
                        <a:rPr lang="en-US" sz="2700" b="1" u="sng" kern="0" noProof="0" dirty="0">
                          <a:solidFill>
                            <a:srgbClr val="467886"/>
                          </a:solidFill>
                          <a:effectLst/>
                          <a:latin typeface="Helvetica" panose="020B0604020202020204" pitchFamily="34" charset="0"/>
                          <a:ea typeface="Times New Roman" panose="02020603050405020304" pitchFamily="18" charset="0"/>
                          <a:cs typeface="Helvetica" panose="020B0604020202020204" pitchFamily="34" charset="0"/>
                          <a:hlinkClick r:id="rId8"/>
                        </a:rPr>
                        <a:t>https://link.springer.com/chapter/10.1007/978-3-031-81168-5_15</a:t>
                      </a:r>
                      <a:endParaRPr lang="en-US" sz="2700" u="sng" kern="100" noProof="0" dirty="0">
                        <a:solidFill>
                          <a:srgbClr val="467886"/>
                        </a:solidFill>
                        <a:latin typeface="Helvetica" panose="020B0604020202020204" pitchFamily="34" charset="0"/>
                        <a:ea typeface="Times New Roman" panose="02020603050405020304" pitchFamily="18" charset="0"/>
                        <a:cs typeface="Helvetica" panose="020B0604020202020204" pitchFamily="34" charset="0"/>
                      </a:endParaRPr>
                    </a:p>
                    <a:p>
                      <a:pPr marL="112713" marR="0" lvl="0" indent="-112713">
                        <a:lnSpc>
                          <a:spcPct val="107000"/>
                        </a:lnSpc>
                        <a:buFont typeface="+mj-lt"/>
                        <a:buAutoNum type="arabicPeriod"/>
                        <a:tabLst>
                          <a:tab pos="457200" algn="l"/>
                        </a:tabLst>
                      </a:pPr>
                      <a:r>
                        <a:rPr lang="en-US" sz="2700" b="1" kern="0" noProof="0" dirty="0">
                          <a:effectLst/>
                          <a:latin typeface="Helvetica" panose="020B0604020202020204" pitchFamily="34" charset="0"/>
                          <a:ea typeface="Times New Roman" panose="02020603050405020304" pitchFamily="18" charset="0"/>
                          <a:cs typeface="Helvetica" panose="020B0604020202020204" pitchFamily="34" charset="0"/>
                        </a:rPr>
                        <a:t>Mughaid, A., AlZu’bi, S., Hnaif, A., Taamneh, S., Alnajjar, A., &amp; Abu Elsoud, E. (2022). An intelligent cybersecurity phishing detection system using deep learning techniques. Cluster Computing, 25, 3819–3828.</a:t>
                      </a:r>
                      <a:r>
                        <a:rPr lang="en-US" sz="2700" kern="0" noProof="0" dirty="0">
                          <a:effectLst/>
                          <a:latin typeface="Helvetica" panose="020B0604020202020204" pitchFamily="34" charset="0"/>
                          <a:ea typeface="Times New Roman" panose="02020603050405020304" pitchFamily="18" charset="0"/>
                          <a:cs typeface="Helvetica" panose="020B0604020202020204" pitchFamily="34" charset="0"/>
                        </a:rPr>
                        <a:t> </a:t>
                      </a:r>
                      <a:r>
                        <a:rPr lang="en-US" sz="2700" u="sng" kern="0" noProof="0" dirty="0">
                          <a:solidFill>
                            <a:srgbClr val="467886"/>
                          </a:solidFill>
                          <a:effectLst/>
                          <a:latin typeface="Helvetica" panose="020B0604020202020204" pitchFamily="34" charset="0"/>
                          <a:ea typeface="Times New Roman" panose="02020603050405020304" pitchFamily="18" charset="0"/>
                          <a:cs typeface="Helvetica" panose="020B0604020202020204" pitchFamily="34" charset="0"/>
                          <a:hlinkClick r:id="rId9"/>
                        </a:rPr>
                        <a:t>https://link.springer.com/content/pdf/10.1007/s10586-022-03604-4.pdf</a:t>
                      </a:r>
                      <a:endParaRPr lang="en-US" sz="2700" kern="100" noProof="0" dirty="0">
                        <a:effectLst/>
                        <a:latin typeface="Helvetica" panose="020B0604020202020204" pitchFamily="34" charset="0"/>
                        <a:ea typeface="Aptos" panose="020B0004020202020204" pitchFamily="34" charset="0"/>
                        <a:cs typeface="Helvetica" panose="020B0604020202020204" pitchFamily="34" charset="0"/>
                      </a:endParaRP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58105916"/>
                  </a:ext>
                </a:extLst>
              </a:tr>
            </a:tbl>
          </a:graphicData>
        </a:graphic>
      </p:graphicFrame>
      <p:graphicFrame>
        <p:nvGraphicFramePr>
          <p:cNvPr id="4" name="Table 3">
            <a:extLst>
              <a:ext uri="{FF2B5EF4-FFF2-40B4-BE49-F238E27FC236}">
                <a16:creationId xmlns:a16="http://schemas.microsoft.com/office/drawing/2014/main" id="{F1360765-2804-4724-E41A-0EB98F2EEE2B}"/>
              </a:ext>
            </a:extLst>
          </p:cNvPr>
          <p:cNvGraphicFramePr>
            <a:graphicFrameLocks noGrp="1"/>
          </p:cNvGraphicFramePr>
          <p:nvPr>
            <p:extLst>
              <p:ext uri="{D42A27DB-BD31-4B8C-83A1-F6EECF244321}">
                <p14:modId xmlns:p14="http://schemas.microsoft.com/office/powerpoint/2010/main" val="3064858027"/>
              </p:ext>
            </p:extLst>
          </p:nvPr>
        </p:nvGraphicFramePr>
        <p:xfrm>
          <a:off x="28676551" y="6941317"/>
          <a:ext cx="13046169" cy="9454896"/>
        </p:xfrm>
        <a:graphic>
          <a:graphicData uri="http://schemas.openxmlformats.org/drawingml/2006/table">
            <a:tbl>
              <a:tblPr firstRow="1" bandRow="1">
                <a:tableStyleId>{69012ECD-51FC-41F1-AA8D-1B2483CD663E}</a:tableStyleId>
              </a:tblPr>
              <a:tblGrid>
                <a:gridCol w="3377221">
                  <a:extLst>
                    <a:ext uri="{9D8B030D-6E8A-4147-A177-3AD203B41FA5}">
                      <a16:colId xmlns:a16="http://schemas.microsoft.com/office/drawing/2014/main" val="403467544"/>
                    </a:ext>
                  </a:extLst>
                </a:gridCol>
                <a:gridCol w="9668948">
                  <a:extLst>
                    <a:ext uri="{9D8B030D-6E8A-4147-A177-3AD203B41FA5}">
                      <a16:colId xmlns:a16="http://schemas.microsoft.com/office/drawing/2014/main" val="1737579646"/>
                    </a:ext>
                  </a:extLst>
                </a:gridCol>
              </a:tblGrid>
              <a:tr h="932688">
                <a:tc grid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rPr>
                        <a:t>System Design</a:t>
                      </a:r>
                      <a:endParaRPr lang="es-ES" sz="4800" b="1" dirty="0">
                        <a:solidFill>
                          <a:schemeClr val="bg1"/>
                        </a:solidFill>
                        <a:effectLst>
                          <a:outerShdw blurRad="38100" dist="38100" dir="2700000" algn="tl">
                            <a:srgbClr val="000000">
                              <a:alpha val="43137"/>
                            </a:srgbClr>
                          </a:outerShdw>
                        </a:effectLst>
                        <a:latin typeface="Helvetica" panose="020B0604020202020204" pitchFamily="34" charset="0"/>
                        <a:cs typeface="Helvetica" panose="020B0604020202020204" pitchFamily="34" charset="0"/>
                      </a:endParaRPr>
                    </a:p>
                  </a:txBody>
                  <a:tcPr marL="329184" marR="329184" marT="164592" marB="164592">
                    <a:lnB w="12700" cap="flat" cmpd="sng" algn="ctr">
                      <a:noFill/>
                      <a:prstDash val="solid"/>
                      <a:miter lim="800000"/>
                    </a:lnB>
                  </a:tcPr>
                </a:tc>
                <a:tc hMerge="1">
                  <a:txBody>
                    <a:bodyPr/>
                    <a:lstStyle/>
                    <a:p>
                      <a:endParaRPr lang="en-US"/>
                    </a:p>
                  </a:txBody>
                  <a:tcPr/>
                </a:tc>
                <a:extLst>
                  <a:ext uri="{0D108BD9-81ED-4DB2-BD59-A6C34878D82A}">
                    <a16:rowId xmlns:a16="http://schemas.microsoft.com/office/drawing/2014/main" val="2445854799"/>
                  </a:ext>
                </a:extLst>
              </a:tr>
              <a:tr h="2706472">
                <a:tc>
                  <a:txBody>
                    <a:bodyPr/>
                    <a:lstStyle/>
                    <a:p>
                      <a:endParaRPr lang="en-US" sz="2950" b="0" noProof="0" dirty="0">
                        <a:solidFill>
                          <a:schemeClr val="tx1"/>
                        </a:solidFill>
                        <a:latin typeface="Helvetica" panose="020B0604020202020204" pitchFamily="34" charset="0"/>
                        <a:cs typeface="Helvetica" panose="020B0604020202020204" pitchFamily="34" charset="0"/>
                      </a:endParaRP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noFill/>
                  </a:tcPr>
                </a:tc>
                <a:tc>
                  <a:txBody>
                    <a:bodyPr/>
                    <a:lstStyle/>
                    <a:p>
                      <a:r>
                        <a:rPr lang="en-US" sz="2940" b="0" noProof="0" dirty="0">
                          <a:solidFill>
                            <a:schemeClr val="tx1"/>
                          </a:solidFill>
                          <a:latin typeface="Helvetica" panose="020B0604020202020204" pitchFamily="34" charset="0"/>
                          <a:cs typeface="Helvetica" panose="020B0604020202020204" pitchFamily="34" charset="0"/>
                        </a:rPr>
                        <a:t>The project is designed to employ a rule-based approach to phishing detection, focusing on simplicity and practicality. The main components of the system include:</a:t>
                      </a:r>
                    </a:p>
                    <a:p>
                      <a:pPr marL="115888" lvl="1" indent="0"/>
                      <a:r>
                        <a:rPr lang="en-US" sz="2940" noProof="0" dirty="0">
                          <a:solidFill>
                            <a:schemeClr val="tx1"/>
                          </a:solidFill>
                          <a:latin typeface="Helvetica" panose="020B0604020202020204" pitchFamily="34" charset="0"/>
                          <a:cs typeface="Helvetica" panose="020B0604020202020204" pitchFamily="34" charset="0"/>
                        </a:rPr>
                        <a:t>1.  Input Module:</a:t>
                      </a:r>
                    </a:p>
                    <a:p>
                      <a:pPr marL="341313" lvl="1" indent="-109538">
                        <a:buFont typeface="Courier New" panose="02070309020205020404" pitchFamily="49" charset="0"/>
                        <a:buChar char="o"/>
                      </a:pPr>
                      <a:r>
                        <a:rPr lang="en-US" sz="2940" b="0" noProof="0" dirty="0">
                          <a:solidFill>
                            <a:schemeClr val="tx1"/>
                          </a:solidFill>
                          <a:latin typeface="Helvetica" panose="020B0604020202020204" pitchFamily="34" charset="0"/>
                          <a:cs typeface="Helvetica" panose="020B0604020202020204" pitchFamily="34" charset="0"/>
                        </a:rPr>
                        <a:t>Accepts user-provided emails or URLs for analysis.</a:t>
                      </a:r>
                    </a:p>
                    <a:p>
                      <a:pPr marL="115888" lvl="1" indent="0" algn="l"/>
                      <a:r>
                        <a:rPr lang="en-US" sz="2940" noProof="0" dirty="0">
                          <a:solidFill>
                            <a:schemeClr val="tx1"/>
                          </a:solidFill>
                          <a:latin typeface="Helvetica" panose="020B0604020202020204" pitchFamily="34" charset="0"/>
                          <a:cs typeface="Helvetica" panose="020B0604020202020204" pitchFamily="34" charset="0"/>
                        </a:rPr>
                        <a:t>2.  Detection Module:</a:t>
                      </a:r>
                    </a:p>
                    <a:p>
                      <a:pPr marL="341313" lvl="1" indent="-109538" algn="l">
                        <a:buFont typeface="Courier New" panose="02070309020205020404" pitchFamily="49" charset="0"/>
                        <a:buChar char="o"/>
                      </a:pPr>
                      <a:r>
                        <a:rPr lang="en-US" sz="2940" b="0" kern="1200" noProof="0" dirty="0">
                          <a:solidFill>
                            <a:schemeClr val="tx1"/>
                          </a:solidFill>
                          <a:latin typeface="Helvetica" panose="020B0604020202020204" pitchFamily="34" charset="0"/>
                          <a:ea typeface="+mn-ea"/>
                          <a:cs typeface="Helvetica" panose="020B0604020202020204" pitchFamily="34" charset="0"/>
                        </a:rPr>
                        <a:t>Implements predefined rules to analyze emails and URLs </a:t>
                      </a:r>
                      <a:r>
                        <a:rPr lang="en-US" sz="2940" b="0" noProof="0" dirty="0">
                          <a:solidFill>
                            <a:schemeClr val="tx1"/>
                          </a:solidFill>
                          <a:latin typeface="Helvetica" panose="020B0604020202020204" pitchFamily="34" charset="0"/>
                          <a:cs typeface="Helvetica" panose="020B0604020202020204" pitchFamily="34" charset="0"/>
                        </a:rPr>
                        <a:t>based on:</a:t>
                      </a:r>
                    </a:p>
                    <a:p>
                      <a:pPr marL="515938" lvl="1" indent="-166688" algn="l">
                        <a:buFont typeface="Arial" panose="020B0604020202020204" pitchFamily="34" charset="0"/>
                        <a:buChar char="•"/>
                      </a:pPr>
                      <a:r>
                        <a:rPr lang="en-US" sz="2940" b="0" noProof="0" dirty="0">
                          <a:solidFill>
                            <a:schemeClr val="tx1"/>
                          </a:solidFill>
                          <a:latin typeface="Helvetica" panose="020B0604020202020204" pitchFamily="34" charset="0"/>
                          <a:cs typeface="Helvetica" panose="020B0604020202020204" pitchFamily="34" charset="0"/>
                        </a:rPr>
                        <a:t>Keywords (e.g., "verify", "update").</a:t>
                      </a:r>
                    </a:p>
                    <a:p>
                      <a:pPr marL="515938" lvl="1" indent="-166688">
                        <a:buFont typeface="Arial" panose="020B0604020202020204" pitchFamily="34" charset="0"/>
                        <a:buChar char="•"/>
                      </a:pPr>
                      <a:r>
                        <a:rPr lang="en-US" sz="2940" b="0" noProof="0" dirty="0">
                          <a:solidFill>
                            <a:schemeClr val="tx1"/>
                          </a:solidFill>
                          <a:latin typeface="Helvetica" panose="020B0604020202020204" pitchFamily="34" charset="0"/>
                          <a:cs typeface="Helvetica" panose="020B0604020202020204" pitchFamily="34" charset="0"/>
                        </a:rPr>
                        <a:t>URL patterns (e.g., excessive subdomains, HTTP protocols).</a:t>
                      </a:r>
                    </a:p>
                    <a:p>
                      <a:pPr marL="515938" lvl="1" indent="-166688">
                        <a:buFont typeface="Arial" panose="020B0604020202020204" pitchFamily="34" charset="0"/>
                        <a:buChar char="•"/>
                      </a:pPr>
                      <a:r>
                        <a:rPr lang="en-US" sz="2940" b="0" noProof="0" dirty="0">
                          <a:solidFill>
                            <a:schemeClr val="tx1"/>
                          </a:solidFill>
                          <a:latin typeface="Helvetica" panose="020B0604020202020204" pitchFamily="34" charset="0"/>
                          <a:cs typeface="Helvetica" panose="020B0604020202020204" pitchFamily="34" charset="0"/>
                        </a:rPr>
                        <a:t>Structural inconsistencies (e.g., long or unusual URLs).</a:t>
                      </a:r>
                    </a:p>
                    <a:p>
                      <a:pPr marL="282575" lvl="1" indent="-171450"/>
                      <a:r>
                        <a:rPr lang="en-US" sz="2940" noProof="0" dirty="0">
                          <a:solidFill>
                            <a:schemeClr val="tx1"/>
                          </a:solidFill>
                          <a:latin typeface="Helvetica" panose="020B0604020202020204" pitchFamily="34" charset="0"/>
                          <a:cs typeface="Helvetica" panose="020B0604020202020204" pitchFamily="34" charset="0"/>
                        </a:rPr>
                        <a:t>3.  Output Module:</a:t>
                      </a:r>
                    </a:p>
                    <a:p>
                      <a:pPr marL="282575" lvl="1" indent="-171450">
                        <a:buFont typeface="Courier New" panose="02070309020205020404" pitchFamily="49" charset="0"/>
                        <a:buChar char="o"/>
                      </a:pPr>
                      <a:r>
                        <a:rPr lang="en-US" sz="2940" b="0" noProof="0" dirty="0">
                          <a:solidFill>
                            <a:schemeClr val="tx1"/>
                          </a:solidFill>
                          <a:latin typeface="Helvetica" panose="020B0604020202020204" pitchFamily="34" charset="0"/>
                          <a:cs typeface="Helvetica" panose="020B0604020202020204" pitchFamily="34" charset="0"/>
                        </a:rPr>
                        <a:t>Flags potentially phishing threats by providing clear notifications or quarantining suspicious emails/URLs</a:t>
                      </a:r>
                      <a:r>
                        <a:rPr lang="en-US" sz="2900" b="0" noProof="0" dirty="0">
                          <a:solidFill>
                            <a:schemeClr val="tx1"/>
                          </a:solidFill>
                          <a:latin typeface="Helvetica" panose="020B0604020202020204" pitchFamily="34" charset="0"/>
                          <a:cs typeface="Helvetica" panose="020B0604020202020204" pitchFamily="34" charset="0"/>
                        </a:rPr>
                        <a:t>.</a:t>
                      </a:r>
                    </a:p>
                  </a:txBody>
                  <a:tcPr marL="329184" marR="329184" marT="164592" marB="164592">
                    <a:lnL w="12700" cap="flat" cmpd="sng" algn="ctr">
                      <a:noFill/>
                      <a:prstDash val="solid"/>
                      <a:miter lim="800000"/>
                    </a:lnL>
                    <a:lnR w="12700" cap="flat" cmpd="sng" algn="ctr">
                      <a:noFill/>
                      <a:prstDash val="solid"/>
                      <a:miter lim="800000"/>
                    </a:lnR>
                    <a:lnT w="12700" cap="flat" cmpd="sng" algn="ctr">
                      <a:noFill/>
                      <a:prstDash val="solid"/>
                      <a:miter lim="800000"/>
                    </a:lnT>
                    <a:lnB w="1270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258105916"/>
                  </a:ext>
                </a:extLst>
              </a:tr>
            </a:tbl>
          </a:graphicData>
        </a:graphic>
      </p:graphicFrame>
      <p:pic>
        <p:nvPicPr>
          <p:cNvPr id="2" name="Picture 1" descr="A diagram of a system&#10;&#10;AI-generated content may be incorrect.">
            <a:extLst>
              <a:ext uri="{FF2B5EF4-FFF2-40B4-BE49-F238E27FC236}">
                <a16:creationId xmlns:a16="http://schemas.microsoft.com/office/drawing/2014/main" id="{EA692E89-6606-EF78-5ACA-8788457871AE}"/>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8657662" y="8213597"/>
            <a:ext cx="3662705" cy="7769312"/>
          </a:xfrm>
          <a:prstGeom prst="rect">
            <a:avLst/>
          </a:prstGeom>
        </p:spPr>
      </p:pic>
      <p:sp>
        <p:nvSpPr>
          <p:cNvPr id="14" name="Rectangle 13">
            <a:extLst>
              <a:ext uri="{FF2B5EF4-FFF2-40B4-BE49-F238E27FC236}">
                <a16:creationId xmlns:a16="http://schemas.microsoft.com/office/drawing/2014/main" id="{AB8C07B3-B9AA-0D70-59A4-470C0781041B}"/>
              </a:ext>
            </a:extLst>
          </p:cNvPr>
          <p:cNvSpPr/>
          <p:nvPr/>
        </p:nvSpPr>
        <p:spPr>
          <a:xfrm>
            <a:off x="2099359" y="987797"/>
            <a:ext cx="39623361" cy="5288627"/>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spcBef>
                <a:spcPts val="1200"/>
              </a:spcBef>
            </a:pPr>
            <a:r>
              <a:rPr lang="en-US" sz="9600" b="1" u="sng" cap="none" spc="0" dirty="0">
                <a:ln/>
                <a:solidFill>
                  <a:schemeClr val="tx2">
                    <a:lumMod val="75000"/>
                    <a:lumOff val="25000"/>
                  </a:schemeClr>
                </a:solidFill>
                <a:effectLst>
                  <a:outerShdw blurRad="38100" dist="38100" dir="2700000" algn="tl">
                    <a:srgbClr val="000000">
                      <a:alpha val="43137"/>
                    </a:srgbClr>
                  </a:outerShdw>
                </a:effectLst>
                <a:latin typeface="Comic Sans MS" panose="030F0702030302020204" pitchFamily="66" charset="0"/>
              </a:rPr>
              <a:t>Phishing Detection Extension - Proof of Concept.</a:t>
            </a:r>
          </a:p>
          <a:p>
            <a:pPr algn="ctr">
              <a:spcBef>
                <a:spcPts val="1800"/>
              </a:spcBef>
            </a:pPr>
            <a:r>
              <a:rPr lang="en-US" sz="4800" b="1" u="sng" cap="none" spc="0" dirty="0">
                <a:ln/>
                <a:solidFill>
                  <a:schemeClr val="tx2">
                    <a:lumMod val="75000"/>
                    <a:lumOff val="25000"/>
                  </a:schemeClr>
                </a:solidFill>
                <a:effectLst>
                  <a:outerShdw blurRad="38100" dist="38100" dir="2700000" algn="tl">
                    <a:srgbClr val="000000">
                      <a:alpha val="43137"/>
                    </a:srgbClr>
                  </a:outerShdw>
                </a:effectLst>
                <a:latin typeface="Comic Sans MS" panose="030F0702030302020204" pitchFamily="66" charset="0"/>
              </a:rPr>
              <a:t>Spring 2025 - Cybersecurity Senior Design Project.</a:t>
            </a:r>
          </a:p>
          <a:p>
            <a:pPr algn="ctr">
              <a:spcBef>
                <a:spcPts val="3600"/>
              </a:spcBef>
            </a:pPr>
            <a:r>
              <a:rPr lang="en-US" sz="4400" b="1" dirty="0">
                <a:solidFill>
                  <a:schemeClr val="tx2">
                    <a:lumMod val="75000"/>
                    <a:lumOff val="25000"/>
                  </a:schemeClr>
                </a:solidFill>
                <a:effectLst>
                  <a:outerShdw blurRad="38100" dist="38100" dir="2700000" algn="tl">
                    <a:srgbClr val="000000">
                      <a:alpha val="43137"/>
                    </a:srgbClr>
                  </a:outerShdw>
                </a:effectLst>
                <a:latin typeface="Comic Sans MS" panose="030F0702030302020204" pitchFamily="66" charset="0"/>
                <a:cs typeface="Helvetica" panose="020B0604020202020204" pitchFamily="34" charset="0"/>
              </a:rPr>
              <a:t>Ezekiel Garcia, Jonathan Iglesias, </a:t>
            </a:r>
          </a:p>
          <a:p>
            <a:pPr algn="ctr"/>
            <a:r>
              <a:rPr lang="en-US" sz="4400" b="1" dirty="0">
                <a:solidFill>
                  <a:schemeClr val="tx2">
                    <a:lumMod val="75000"/>
                    <a:lumOff val="25000"/>
                  </a:schemeClr>
                </a:solidFill>
                <a:effectLst>
                  <a:outerShdw blurRad="38100" dist="38100" dir="2700000" algn="tl">
                    <a:srgbClr val="000000">
                      <a:alpha val="43137"/>
                    </a:srgbClr>
                  </a:outerShdw>
                </a:effectLst>
                <a:latin typeface="Comic Sans MS" panose="030F0702030302020204" pitchFamily="66" charset="0"/>
                <a:cs typeface="Helvetica" panose="020B0604020202020204" pitchFamily="34" charset="0"/>
              </a:rPr>
              <a:t>Giovani Labrador, Tristan Liebenberg, Eyaan Syed</a:t>
            </a:r>
          </a:p>
          <a:p>
            <a:pPr algn="ctr">
              <a:spcBef>
                <a:spcPts val="2000"/>
              </a:spcBef>
            </a:pPr>
            <a:r>
              <a:rPr lang="en-US" sz="4400" b="1" dirty="0">
                <a:solidFill>
                  <a:schemeClr val="tx2">
                    <a:lumMod val="75000"/>
                    <a:lumOff val="25000"/>
                  </a:schemeClr>
                </a:solidFill>
                <a:effectLst>
                  <a:outerShdw blurRad="38100" dist="38100" dir="2700000" algn="tl">
                    <a:srgbClr val="000000">
                      <a:alpha val="43137"/>
                    </a:srgbClr>
                  </a:outerShdw>
                </a:effectLst>
                <a:latin typeface="Comic Sans MS" panose="030F0702030302020204" pitchFamily="66" charset="0"/>
                <a:cs typeface="Helvetica" panose="020B0604020202020204" pitchFamily="34" charset="0"/>
              </a:rPr>
              <a:t>Professor: Dr. Sadjadi</a:t>
            </a:r>
            <a:endParaRPr lang="en-US" sz="9600" b="1" u="sng" cap="none" spc="0" dirty="0">
              <a:ln/>
              <a:solidFill>
                <a:schemeClr val="tx2">
                  <a:lumMod val="75000"/>
                  <a:lumOff val="25000"/>
                </a:schemeClr>
              </a:solidFill>
              <a:effectLst>
                <a:outerShdw blurRad="38100" dist="38100" dir="2700000" algn="tl">
                  <a:srgbClr val="000000">
                    <a:alpha val="43137"/>
                  </a:srgbClr>
                </a:outerShdw>
              </a:effectLst>
              <a:latin typeface="Comic Sans MS" panose="030F0702030302020204" pitchFamily="66" charset="0"/>
            </a:endParaRPr>
          </a:p>
        </p:txBody>
      </p:sp>
      <p:grpSp>
        <p:nvGrpSpPr>
          <p:cNvPr id="3" name="Group 2">
            <a:extLst>
              <a:ext uri="{FF2B5EF4-FFF2-40B4-BE49-F238E27FC236}">
                <a16:creationId xmlns:a16="http://schemas.microsoft.com/office/drawing/2014/main" id="{CED0DF4D-1519-3133-9B9C-A42BD93DBDEE}"/>
              </a:ext>
            </a:extLst>
          </p:cNvPr>
          <p:cNvGrpSpPr/>
          <p:nvPr/>
        </p:nvGrpSpPr>
        <p:grpSpPr>
          <a:xfrm>
            <a:off x="2099359" y="6685252"/>
            <a:ext cx="39608052" cy="101734"/>
            <a:chOff x="2096561" y="6617518"/>
            <a:chExt cx="39608052" cy="101734"/>
          </a:xfrm>
        </p:grpSpPr>
        <p:cxnSp>
          <p:nvCxnSpPr>
            <p:cNvPr id="40" name="Straight Connector 39">
              <a:extLst>
                <a:ext uri="{FF2B5EF4-FFF2-40B4-BE49-F238E27FC236}">
                  <a16:creationId xmlns:a16="http://schemas.microsoft.com/office/drawing/2014/main" id="{83B1A733-B5F6-4292-6CAE-23FE42B6024F}"/>
                </a:ext>
              </a:extLst>
            </p:cNvPr>
            <p:cNvCxnSpPr>
              <a:cxnSpLocks/>
            </p:cNvCxnSpPr>
            <p:nvPr/>
          </p:nvCxnSpPr>
          <p:spPr>
            <a:xfrm>
              <a:off x="2099737" y="6719252"/>
              <a:ext cx="39604876" cy="0"/>
            </a:xfrm>
            <a:prstGeom prst="line">
              <a:avLst/>
            </a:prstGeom>
            <a:ln w="228600"/>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9124B6FE-F082-439F-9CC1-E951F55F456B}"/>
                </a:ext>
              </a:extLst>
            </p:cNvPr>
            <p:cNvCxnSpPr>
              <a:cxnSpLocks/>
            </p:cNvCxnSpPr>
            <p:nvPr/>
          </p:nvCxnSpPr>
          <p:spPr>
            <a:xfrm>
              <a:off x="2096561" y="6617518"/>
              <a:ext cx="39604876" cy="0"/>
            </a:xfrm>
            <a:prstGeom prst="line">
              <a:avLst/>
            </a:prstGeom>
            <a:ln w="63500">
              <a:solidFill>
                <a:srgbClr val="FFC000"/>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990533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1235</TotalTime>
  <Words>1160</Words>
  <Application>Microsoft Office PowerPoint</Application>
  <PresentationFormat>Custom</PresentationFormat>
  <Paragraphs>51</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Comic Sans MS</vt:lpstr>
      <vt:lpstr>Courier New</vt:lpstr>
      <vt:lpstr>Helvetica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Julia Garcia</dc:creator>
  <cp:lastModifiedBy>Julia Garcia</cp:lastModifiedBy>
  <cp:revision>286</cp:revision>
  <dcterms:created xsi:type="dcterms:W3CDTF">2024-07-15T20:13:01Z</dcterms:created>
  <dcterms:modified xsi:type="dcterms:W3CDTF">2025-04-11T20:02:56Z</dcterms:modified>
</cp:coreProperties>
</file>