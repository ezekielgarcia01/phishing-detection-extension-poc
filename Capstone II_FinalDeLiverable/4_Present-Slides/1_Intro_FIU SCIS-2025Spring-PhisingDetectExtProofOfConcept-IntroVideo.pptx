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1161" autoAdjust="0"/>
  </p:normalViewPr>
  <p:slideViewPr>
    <p:cSldViewPr snapToGrid="0" showGuides="1">
      <p:cViewPr varScale="1">
        <p:scale>
          <a:sx n="54" d="100"/>
          <a:sy n="54" d="100"/>
        </p:scale>
        <p:origin x="72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Phishing Attacks Increment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4E208-3243-4DD0-9405-E6F851D94835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556DC-3060-49A4-B195-D89B1FBE3DF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977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56DC-3060-49A4-B195-D89B1FBE3DF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202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56DC-3060-49A4-B195-D89B1FBE3DF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5633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83BAA-24CF-25FC-6A39-DC64EA9B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FA55F-7457-D61C-DF27-EA8016B1C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8D372-EE58-0572-FA02-A970D449C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FA4D-2038-A74C-9FE5-8CAFAB018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56DC-3060-49A4-B195-D89B1FBE3DF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758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556DC-3060-49A4-B195-D89B1FBE3DF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2951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6BD4-452F-47E2-DD33-6705C788F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50539-B445-8965-3E9E-3EC6E7871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5F759-250B-2492-07F1-DE29341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98E9-7BF9-C826-B056-4E11E24D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EDCFF-3149-73F9-8B80-CFC3F34D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609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E5D1-C07E-B44A-9B32-E2DEF053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70091-41CB-3D3E-2269-5D33929E2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CDDED-79A6-1649-3FC8-57204E0F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3A213-52B0-6A29-976C-BC1335F9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BC299-B1B1-38EE-FCD4-C1F651F3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78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2EAA-C488-A654-F3E6-2C82832F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BE6F6-4573-0348-1C56-D3BC9D57B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851A0-956E-7ED2-F281-3249121A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3FCD2-7104-0DF3-57A8-500CE92C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C99C3-F79B-7094-FE93-63405AE2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06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6E33-C5B0-8510-C75C-6C4D23DC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BE3DD-6538-4917-2699-9A30B875B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0615F-5FE4-6ED8-A614-3907F5DD2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237BE-8692-CB96-7E1E-D073AD77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F4EC9-D215-9A2E-9597-1B5D572F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25BE1-AE59-75C5-57AD-28262A7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13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85A3-1E51-110B-692C-282BD85F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4FC7B-705F-F15D-D9F3-94B4F6DE2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14296-19A4-D7FE-0E47-70B07A5BF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C265A-E7A9-EB54-6C20-A0B954E85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33F813-02D5-05E1-228E-A1821B77A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94A24-9A09-ED32-77BD-C0ECA5A7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4DDE9-A69F-461C-4156-C00ACA23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97979-F2A8-5378-CF8B-26D678E4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765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77C0-8A34-230A-8508-11917342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30592-2B30-7312-0A32-F5289FAA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8D519-B169-517A-7805-FFA826E5F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53D1-B435-7CE6-CCF7-03E29D32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317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618C2-FA23-2B5A-FCA1-D9777899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42325-F3BC-7C19-7D02-25AC8B7DA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ABBE6-0311-D268-7858-8D1E3A9A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927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B30A-D8F1-BAFC-08D3-EA69A57D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70BD-8E0E-2D27-22B7-BA1553902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1FE3D-204D-F4A3-C637-94CB71D3C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2348-4125-0F8C-3F27-00B833E1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D1800-D7C8-06CF-C8E3-EA563C34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E6A67-4772-C5DC-EEF1-DC823703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816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FFAE-34D7-45C4-3C0B-29DECB88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6752D-7E37-4674-B606-156100363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06EC1-7372-23EA-BFFC-EF369184D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D4E60-9973-DFBD-8F53-988D2F54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B174A-7861-2E7D-F4CE-282652BA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80664-2983-3EF9-C777-988E6DFF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109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2B65-6B84-F351-CFD9-EE6A2DD6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2EDF9-AF5E-4B75-4C71-3AA73F3BF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0F2D-B059-F627-4D0C-B05E3EBB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5C56-890D-0F2D-1567-03F25E66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402C0-2CE4-90CD-8B46-2BBFACE0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667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90A38-D218-3B62-A3A9-B8221930A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2C697-795A-05E4-B16F-97B3778E5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82525-1C66-C088-D028-BFFA1E40D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E6D62-F8C9-3BBC-229A-2BF7CDEC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89A2-4C95-CE43-CAE4-E398FA92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45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BB11F-9AD5-7608-E5ED-2300AD1D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9F59-A421-A92B-1BC5-999E8D20E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66DC3-3C9E-F36D-AE68-E1E811107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72792-F23F-4CEF-8449-C52D02ADF7C8}" type="datetimeFigureOut">
              <a:rPr lang="es-ES" smtClean="0"/>
              <a:t>16/04/2025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8AE1-E896-34A2-EFF2-0073BD53E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5970A-E150-1BA0-6F23-B5F79B293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2DE93-F1C3-4513-B3A9-06FF501542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185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mp"/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mp"/><Relationship Id="rId5" Type="http://schemas.openxmlformats.org/officeDocument/2006/relationships/image" Target="../media/image9.tmp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E2CCB70-5688-70C3-5148-D5093C453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60"/>
            <a:ext cx="12192000" cy="69291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B97269-FFD2-F2E0-3EF3-885E295264D2}"/>
              </a:ext>
            </a:extLst>
          </p:cNvPr>
          <p:cNvSpPr txBox="1"/>
          <p:nvPr/>
        </p:nvSpPr>
        <p:spPr>
          <a:xfrm>
            <a:off x="3103879" y="510090"/>
            <a:ext cx="7645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Phishing Detection Extension </a:t>
            </a:r>
            <a:b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Proof of Concept</a:t>
            </a:r>
            <a:endParaRPr lang="es-ES" sz="4400" dirty="0">
              <a:gradFill>
                <a:gsLst>
                  <a:gs pos="49000">
                    <a:srgbClr val="FFC000"/>
                  </a:gs>
                  <a:gs pos="70000">
                    <a:schemeClr val="accent1">
                      <a:lumMod val="45000"/>
                      <a:lumOff val="5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28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 descr="A person in a mask fishing from laptops&#10;&#10;AI-generated content may be incorrect.">
            <a:extLst>
              <a:ext uri="{FF2B5EF4-FFF2-40B4-BE49-F238E27FC236}">
                <a16:creationId xmlns:a16="http://schemas.microsoft.com/office/drawing/2014/main" id="{355DEB5B-7BDF-167B-DE24-2DDA6F844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545" y="2502289"/>
            <a:ext cx="5100069" cy="263796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4226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line on a dark background&#10;&#10;AI-generated content may be incorrect.">
            <a:extLst>
              <a:ext uri="{FF2B5EF4-FFF2-40B4-BE49-F238E27FC236}">
                <a16:creationId xmlns:a16="http://schemas.microsoft.com/office/drawing/2014/main" id="{A13FE404-1CBF-7B5B-25DF-8C196408DB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110" y="0"/>
            <a:ext cx="1230711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FE708C-2121-31BE-3894-8443045BDE6F}"/>
              </a:ext>
            </a:extLst>
          </p:cNvPr>
          <p:cNvSpPr txBox="1"/>
          <p:nvPr/>
        </p:nvSpPr>
        <p:spPr>
          <a:xfrm>
            <a:off x="7726344" y="2421369"/>
            <a:ext cx="3212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Professor: Dr. Sadjadi</a:t>
            </a:r>
            <a:endParaRPr lang="es-ES" sz="2400" dirty="0">
              <a:solidFill>
                <a:schemeClr val="bg1"/>
              </a:solidFill>
            </a:endParaRPr>
          </a:p>
        </p:txBody>
      </p:sp>
      <p:grpSp>
        <p:nvGrpSpPr>
          <p:cNvPr id="4" name="TextBox 7">
            <a:extLst>
              <a:ext uri="{FF2B5EF4-FFF2-40B4-BE49-F238E27FC236}">
                <a16:creationId xmlns:a16="http://schemas.microsoft.com/office/drawing/2014/main" id="{019E5480-A1DD-AEFC-CAA6-6B6B93C94F20}"/>
              </a:ext>
            </a:extLst>
          </p:cNvPr>
          <p:cNvGrpSpPr/>
          <p:nvPr/>
        </p:nvGrpSpPr>
        <p:grpSpPr>
          <a:xfrm>
            <a:off x="3568201" y="2191427"/>
            <a:ext cx="7777689" cy="4801480"/>
            <a:chOff x="5542153" y="872005"/>
            <a:chExt cx="7777689" cy="480148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AA26B1-0DA8-8EAF-D559-6D654074DFF1}"/>
                </a:ext>
              </a:extLst>
            </p:cNvPr>
            <p:cNvSpPr/>
            <p:nvPr/>
          </p:nvSpPr>
          <p:spPr>
            <a:xfrm>
              <a:off x="8010226" y="290882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A8E40F2-86A6-3734-68F1-850734E5CB28}"/>
                </a:ext>
              </a:extLst>
            </p:cNvPr>
            <p:cNvSpPr/>
            <p:nvPr/>
          </p:nvSpPr>
          <p:spPr>
            <a:xfrm>
              <a:off x="8010226" y="2908825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CBAB69-3D5B-19C7-D086-E87B854FCEDC}"/>
                </a:ext>
              </a:extLst>
            </p:cNvPr>
            <p:cNvSpPr/>
            <p:nvPr/>
          </p:nvSpPr>
          <p:spPr>
            <a:xfrm>
              <a:off x="8010226" y="336960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157348F-2797-7CEF-172D-F6D3CE48EBDA}"/>
                </a:ext>
              </a:extLst>
            </p:cNvPr>
            <p:cNvSpPr/>
            <p:nvPr/>
          </p:nvSpPr>
          <p:spPr>
            <a:xfrm>
              <a:off x="6515041" y="872005"/>
              <a:ext cx="1430253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Jonathan </a:t>
              </a:r>
            </a:p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Iglesias</a:t>
              </a:r>
              <a:endParaRPr lang="en-US" sz="24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937983F-7B52-418C-589C-B21998CF75B0}"/>
                </a:ext>
              </a:extLst>
            </p:cNvPr>
            <p:cNvSpPr/>
            <p:nvPr/>
          </p:nvSpPr>
          <p:spPr>
            <a:xfrm>
              <a:off x="8010226" y="383038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CD6F62D-1A5D-5049-1E80-5ED3D8A4EB21}"/>
                </a:ext>
              </a:extLst>
            </p:cNvPr>
            <p:cNvSpPr/>
            <p:nvPr/>
          </p:nvSpPr>
          <p:spPr>
            <a:xfrm>
              <a:off x="5542153" y="3850705"/>
              <a:ext cx="2098020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Giovani </a:t>
              </a:r>
            </a:p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Labrador</a:t>
              </a:r>
              <a:endParaRPr lang="en-US" sz="24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2384-B235-1BBA-F401-501B94C0E7D9}"/>
                </a:ext>
              </a:extLst>
            </p:cNvPr>
            <p:cNvSpPr/>
            <p:nvPr/>
          </p:nvSpPr>
          <p:spPr>
            <a:xfrm>
              <a:off x="8010226" y="429116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32EAD7B-005B-1507-605D-7FE2BD8BFF6A}"/>
                </a:ext>
              </a:extLst>
            </p:cNvPr>
            <p:cNvSpPr/>
            <p:nvPr/>
          </p:nvSpPr>
          <p:spPr>
            <a:xfrm>
              <a:off x="8800717" y="3845635"/>
              <a:ext cx="1899926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dirty="0">
                  <a:solidFill>
                    <a:schemeClr val="bg1"/>
                  </a:solidFill>
                  <a:latin typeface="Aptos"/>
                </a:rPr>
                <a:t>Tristin </a:t>
              </a:r>
            </a:p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Liebenberg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C3801EE-4CB5-8EEE-D572-96F5823FB723}"/>
                </a:ext>
              </a:extLst>
            </p:cNvPr>
            <p:cNvSpPr/>
            <p:nvPr/>
          </p:nvSpPr>
          <p:spPr>
            <a:xfrm>
              <a:off x="8010226" y="4751935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6950435-F394-CDAE-ABD2-C89A2B4BB399}"/>
                </a:ext>
              </a:extLst>
            </p:cNvPr>
            <p:cNvSpPr/>
            <p:nvPr/>
          </p:nvSpPr>
          <p:spPr>
            <a:xfrm>
              <a:off x="11430006" y="3830229"/>
              <a:ext cx="1889836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nl-NL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Eyaan </a:t>
              </a:r>
            </a:p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nl-NL" sz="2400" b="0" i="0" u="none" strike="noStrike" kern="1200" cap="none" spc="0" baseline="0" dirty="0">
                  <a:solidFill>
                    <a:schemeClr val="bg1"/>
                  </a:solidFill>
                  <a:uFillTx/>
                  <a:latin typeface="Aptos"/>
                </a:rPr>
                <a:t>Syed</a:t>
              </a:r>
              <a:endParaRPr lang="en-US" sz="24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25B5D0-6BB4-E009-F3DC-18438EFAEB73}"/>
                </a:ext>
              </a:extLst>
            </p:cNvPr>
            <p:cNvSpPr/>
            <p:nvPr/>
          </p:nvSpPr>
          <p:spPr>
            <a:xfrm>
              <a:off x="8010226" y="5212710"/>
              <a:ext cx="3212497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noFill/>
              <a:prstDash val="solid"/>
              <a:miter/>
            </a:ln>
          </p:spPr>
          <p:txBody>
            <a:bodyPr lIns="0" tIns="0" rIns="0" bIns="0"/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7CA3D32-23C9-6F79-509E-8D80730C44C5}"/>
                </a:ext>
              </a:extLst>
            </p:cNvPr>
            <p:cNvSpPr/>
            <p:nvPr/>
          </p:nvSpPr>
          <p:spPr>
            <a:xfrm>
              <a:off x="8010226" y="5212710"/>
              <a:ext cx="3212497" cy="4607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12502"/>
                <a:gd name="f7" fmla="val 460777"/>
                <a:gd name="f8" fmla="+- 0 0 -90"/>
                <a:gd name="f9" fmla="*/ f3 1 3212502"/>
                <a:gd name="f10" fmla="*/ f4 1 46077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212502"/>
                <a:gd name="f19" fmla="*/ f15 1 460777"/>
                <a:gd name="f20" fmla="*/ 0 f16 1"/>
                <a:gd name="f21" fmla="*/ 0 f15 1"/>
                <a:gd name="f22" fmla="*/ 3212502 f16 1"/>
                <a:gd name="f23" fmla="*/ 460777 f15 1"/>
                <a:gd name="f24" fmla="+- f17 0 f1"/>
                <a:gd name="f25" fmla="*/ f20 1 3212502"/>
                <a:gd name="f26" fmla="*/ f21 1 460777"/>
                <a:gd name="f27" fmla="*/ f22 1 3212502"/>
                <a:gd name="f28" fmla="*/ f23 1 46077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212502" h="46077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0010" tIns="80010" rIns="80010" bIns="80010" anchor="t" anchorCtr="0" compatLnSpc="1">
              <a:noAutofit/>
            </a:bodyPr>
            <a:lstStyle/>
            <a:p>
              <a:pPr marL="0" marR="0" lvl="0" indent="0" algn="l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4E69BB-C5BB-D86C-BFA9-8A99A7FE50A6}"/>
              </a:ext>
            </a:extLst>
          </p:cNvPr>
          <p:cNvSpPr txBox="1"/>
          <p:nvPr/>
        </p:nvSpPr>
        <p:spPr>
          <a:xfrm>
            <a:off x="7647799" y="1292520"/>
            <a:ext cx="4206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CIS – 4951 Capstone II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Senior Design Project</a:t>
            </a:r>
          </a:p>
        </p:txBody>
      </p:sp>
      <p:pic>
        <p:nvPicPr>
          <p:cNvPr id="3" name="Content Placeholder 4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87F79468-1E36-E7E8-F192-170EBE754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937" y="957240"/>
            <a:ext cx="1241322" cy="1234187"/>
          </a:xfr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" name="Picture 5" descr="A person with nice hair&#10;&#10;AI-generated content may be incorrect.">
            <a:extLst>
              <a:ext uri="{FF2B5EF4-FFF2-40B4-BE49-F238E27FC236}">
                <a16:creationId xmlns:a16="http://schemas.microsoft.com/office/drawing/2014/main" id="{7EC7D676-437E-BF61-5E61-31C8BF8192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407" y="948377"/>
            <a:ext cx="1351439" cy="126649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Picture 6" descr="A person with dark hair&#10;&#10;AI-generated content may be incorrect.">
            <a:extLst>
              <a:ext uri="{FF2B5EF4-FFF2-40B4-BE49-F238E27FC236}">
                <a16:creationId xmlns:a16="http://schemas.microsoft.com/office/drawing/2014/main" id="{43DBFC9A-B4EF-5313-EE73-70D5E22FA5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05" y="3628763"/>
            <a:ext cx="1310754" cy="129551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975E62-2FE2-A111-D41D-04B505BA1FBD}"/>
              </a:ext>
            </a:extLst>
          </p:cNvPr>
          <p:cNvSpPr txBox="1"/>
          <p:nvPr/>
        </p:nvSpPr>
        <p:spPr>
          <a:xfrm>
            <a:off x="2300490" y="2214869"/>
            <a:ext cx="1788542" cy="87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33446" rtl="0" fontAlgn="auto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chemeClr val="bg1"/>
                </a:solidFill>
                <a:uFillTx/>
                <a:latin typeface="Aptos"/>
              </a:rPr>
              <a:t>Ezekiel </a:t>
            </a:r>
            <a:endParaRPr lang="en-US" sz="2400" b="0" i="0" u="none" strike="noStrike" kern="1200" cap="none" spc="0" baseline="0" dirty="0">
              <a:solidFill>
                <a:schemeClr val="bg1"/>
              </a:solidFill>
              <a:uFillTx/>
              <a:latin typeface="Aptos"/>
            </a:endParaRPr>
          </a:p>
          <a:p>
            <a:pPr marL="0" marR="0" lvl="0" indent="0" algn="ctr" defTabSz="933446" rtl="0" fontAlgn="auto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chemeClr val="bg1"/>
                </a:solidFill>
                <a:uFillTx/>
                <a:latin typeface="Aptos"/>
              </a:rPr>
              <a:t>Garcia</a:t>
            </a:r>
          </a:p>
        </p:txBody>
      </p:sp>
      <p:pic>
        <p:nvPicPr>
          <p:cNvPr id="24" name="Picture 2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921834B-BE85-61E7-408A-FE15EAED41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919" y="3618707"/>
            <a:ext cx="1224395" cy="132081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5" name="Picture 24" descr="A person taking a selfie&#10;&#10;AI-generated content may be incorrect.">
            <a:extLst>
              <a:ext uri="{FF2B5EF4-FFF2-40B4-BE49-F238E27FC236}">
                <a16:creationId xmlns:a16="http://schemas.microsoft.com/office/drawing/2014/main" id="{49C07426-E1BB-AA42-C16B-C231F4ECB5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351" y="3628763"/>
            <a:ext cx="1310753" cy="13107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78618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657AF-F0EC-FD51-30DA-316BF3BA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line on a dark background&#10;&#10;AI-generated content may be incorrect.">
            <a:extLst>
              <a:ext uri="{FF2B5EF4-FFF2-40B4-BE49-F238E27FC236}">
                <a16:creationId xmlns:a16="http://schemas.microsoft.com/office/drawing/2014/main" id="{C276D362-3257-20EC-E94B-57A322654A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110" y="0"/>
            <a:ext cx="12307110" cy="6858000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4167C3-AE10-5FD9-97D5-63C7B104414F}"/>
              </a:ext>
            </a:extLst>
          </p:cNvPr>
          <p:cNvGraphicFramePr>
            <a:graphicFrameLocks/>
          </p:cNvGraphicFramePr>
          <p:nvPr/>
        </p:nvGraphicFramePr>
        <p:xfrm>
          <a:off x="38100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 descr="A graph of a pie chart&#10;&#10;AI-generated content may be incorrect.">
            <a:extLst>
              <a:ext uri="{FF2B5EF4-FFF2-40B4-BE49-F238E27FC236}">
                <a16:creationId xmlns:a16="http://schemas.microsoft.com/office/drawing/2014/main" id="{CD842394-EB0C-6D84-6B0B-FEA1EC548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974" y="1806220"/>
            <a:ext cx="4851890" cy="370331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2" name="Picture 21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CF602B98-7AD1-2123-7160-E77923E681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87" y="2194560"/>
            <a:ext cx="5408919" cy="260604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E294254-AE51-8056-A6E4-726303EB66E7}"/>
              </a:ext>
            </a:extLst>
          </p:cNvPr>
          <p:cNvSpPr txBox="1"/>
          <p:nvPr/>
        </p:nvSpPr>
        <p:spPr>
          <a:xfrm>
            <a:off x="0" y="643980"/>
            <a:ext cx="93954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2019 to 2023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BC284F-CFE0-1CF0-7974-3FB7BD778396}"/>
              </a:ext>
            </a:extLst>
          </p:cNvPr>
          <p:cNvSpPr txBox="1"/>
          <p:nvPr/>
        </p:nvSpPr>
        <p:spPr>
          <a:xfrm>
            <a:off x="1416460" y="4129933"/>
            <a:ext cx="1244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541.93%</a:t>
            </a:r>
            <a:endParaRPr lang="es-E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44475FF0-9FAD-8226-74C6-A4D86FB05B26}"/>
              </a:ext>
            </a:extLst>
          </p:cNvPr>
          <p:cNvSpPr/>
          <p:nvPr/>
        </p:nvSpPr>
        <p:spPr>
          <a:xfrm>
            <a:off x="2559410" y="4030874"/>
            <a:ext cx="226473" cy="40011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4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96A5B6-53FD-1C43-FCA6-8117901BE3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241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42007C-170D-0A1F-87A0-8FFE3538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18" y="931012"/>
            <a:ext cx="10048551" cy="1325563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gradFill>
                  <a:gsLst>
                    <a:gs pos="49000">
                      <a:srgbClr val="FFC000"/>
                    </a:gs>
                    <a:gs pos="70000">
                      <a:schemeClr val="accent1">
                        <a:lumMod val="45000"/>
                        <a:lumOff val="5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28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to cover   &amp; Methodology / System used </a:t>
            </a:r>
            <a:endParaRPr lang="es-ES" sz="4000" dirty="0">
              <a:gradFill>
                <a:gsLst>
                  <a:gs pos="49000">
                    <a:srgbClr val="FFC000"/>
                  </a:gs>
                  <a:gs pos="70000">
                    <a:schemeClr val="accent1">
                      <a:lumMod val="45000"/>
                      <a:lumOff val="5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28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8C01A-4C5B-9974-503E-2F95FDC0FF8A}"/>
              </a:ext>
            </a:extLst>
          </p:cNvPr>
          <p:cNvSpPr txBox="1"/>
          <p:nvPr/>
        </p:nvSpPr>
        <p:spPr>
          <a:xfrm>
            <a:off x="678587" y="2165135"/>
            <a:ext cx="4480932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noProof="0" dirty="0">
                <a:solidFill>
                  <a:schemeClr val="bg1"/>
                </a:solidFill>
              </a:rPr>
              <a:t>Description of the issue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noProof="0" dirty="0">
                <a:solidFill>
                  <a:schemeClr val="bg1"/>
                </a:solidFill>
              </a:rPr>
              <a:t>Characteristics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Goals &amp; Objectives</a:t>
            </a:r>
            <a:endParaRPr lang="en-US" sz="2400" noProof="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noProof="0" dirty="0">
                <a:solidFill>
                  <a:schemeClr val="bg1"/>
                </a:solidFill>
              </a:rPr>
              <a:t>Scope &amp; Limitations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noProof="0" dirty="0">
                <a:solidFill>
                  <a:schemeClr val="bg1"/>
                </a:solidFill>
              </a:rPr>
              <a:t>Key functionalities &amp; features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noProof="0" dirty="0">
                <a:solidFill>
                  <a:schemeClr val="bg1"/>
                </a:solidFill>
              </a:rPr>
              <a:t>Component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5F5BA-C132-568C-24C1-B1152348123A}"/>
              </a:ext>
            </a:extLst>
          </p:cNvPr>
          <p:cNvSpPr txBox="1"/>
          <p:nvPr/>
        </p:nvSpPr>
        <p:spPr>
          <a:xfrm>
            <a:off x="6096000" y="2492935"/>
            <a:ext cx="5131420" cy="280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Overall System Architecture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Setting &amp; Development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Key Java Libraries &amp; Tools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Suspicious Content Detection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User Alerts &amp;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29465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85</Words>
  <Application>Microsoft Office PowerPoint</Application>
  <PresentationFormat>Widescreen</PresentationFormat>
  <Paragraphs>33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Steps to cover   &amp; Methodology / System used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Garcia</dc:creator>
  <cp:lastModifiedBy>Julia Garcia</cp:lastModifiedBy>
  <cp:revision>51</cp:revision>
  <dcterms:created xsi:type="dcterms:W3CDTF">2025-03-29T13:54:49Z</dcterms:created>
  <dcterms:modified xsi:type="dcterms:W3CDTF">2025-04-16T15:37:01Z</dcterms:modified>
</cp:coreProperties>
</file>